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6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17251D-157D-4A93-8860-3E51ED663E19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C78E8-33C0-47C5-AF77-A559993EE5A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60400" y="889000"/>
            <a:ext cx="152400" cy="4381500"/>
          </a:xfrm>
          <a:prstGeom prst="rect">
            <a:avLst/>
          </a:prstGeom>
          <a:solidFill>
            <a:srgbClr val="DF6C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92200" y="965200"/>
            <a:ext cx="9779000" cy="110799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3300" b="1">
                <a:solidFill>
                  <a:srgbClr val="563B18"/>
                </a:solidFill>
                <a:latin typeface="微软雅黑" panose="020B0503020204020204" pitchFamily="34" charset="-122"/>
              </a:rPr>
              <a:t>Assignment 1</a:t>
            </a:r>
            <a:r>
              <a:rPr lang="zh-CN" altLang="en-US" sz="3300" b="1">
                <a:solidFill>
                  <a:srgbClr val="563B18"/>
                </a:solidFill>
                <a:latin typeface="微软雅黑" panose="020B0503020204020204" pitchFamily="34" charset="-122"/>
              </a:rPr>
              <a:t>：基于视觉感知局限的可视化对比改进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17600" y="2514600"/>
            <a:ext cx="8890000" cy="39878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zh-CN" altLang="en-US" sz="2000">
                <a:solidFill>
                  <a:srgbClr val="675447"/>
                </a:solidFill>
                <a:latin typeface="微软雅黑" panose="020B0503020204020204" pitchFamily="34" charset="-122"/>
              </a:rPr>
              <a:t>主题：</a:t>
            </a:r>
            <a:r>
              <a:rPr lang="en-US" altLang="zh-CN" sz="2000">
                <a:solidFill>
                  <a:srgbClr val="675447"/>
                </a:solidFill>
                <a:latin typeface="微软雅黑" panose="020B0503020204020204" pitchFamily="34" charset="-122"/>
              </a:rPr>
              <a:t>Contrast Sensitivity &amp; Optics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17600" y="3354705"/>
            <a:ext cx="4978400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成员分工：何键韬 </a:t>
            </a:r>
            <a:r>
              <a:rPr lang="zh-CN" altLang="en-US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数据收集、可视实现</a:t>
            </a:r>
            <a:endParaRPr lang="en-US" altLang="zh-CN" sz="2000" dirty="0">
              <a:solidFill>
                <a:srgbClr val="764A2D"/>
              </a:solidFill>
              <a:latin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	     </a:t>
            </a:r>
            <a:r>
              <a:rPr lang="zh-CN" altLang="en-US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郑逸驰 </a:t>
            </a:r>
            <a:r>
              <a:rPr lang="zh-CN" altLang="en-US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报告撰写</a:t>
            </a:r>
            <a:endParaRPr lang="en-US" altLang="zh-CN" sz="2000" dirty="0">
              <a:solidFill>
                <a:srgbClr val="764A2D"/>
              </a:solidFill>
              <a:latin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	     </a:t>
            </a:r>
            <a:r>
              <a:rPr lang="zh-CN" altLang="en-US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孙海骏</a:t>
            </a:r>
            <a:r>
              <a:rPr lang="zh-CN" altLang="en-US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 可视实现、汇报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1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作业要求与汇报目标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5334000" cy="201593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100">
                <a:solidFill>
                  <a:srgbClr val="514137"/>
                </a:solidFill>
                <a:latin typeface="微软雅黑" panose="020B0503020204020204" pitchFamily="34" charset="-122"/>
              </a:rPr>
              <a:t>作业要求：展示误导性可视化，并给出同数据改进版。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100">
                <a:solidFill>
                  <a:srgbClr val="514137"/>
                </a:solidFill>
                <a:latin typeface="微软雅黑" panose="020B0503020204020204" pitchFamily="34" charset="-122"/>
              </a:rPr>
              <a:t>理论依据：对比敏感度与视觉光学限制。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100">
                <a:solidFill>
                  <a:srgbClr val="514137"/>
                </a:solidFill>
                <a:latin typeface="微软雅黑" panose="020B0503020204020204" pitchFamily="34" charset="-122"/>
              </a:rPr>
              <a:t>本汇报目标：解释误导机制与改进效果。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100">
                <a:solidFill>
                  <a:srgbClr val="514137"/>
                </a:solidFill>
                <a:latin typeface="微软雅黑" panose="020B0503020204020204" pitchFamily="34" charset="-122"/>
              </a:rPr>
              <a:t>判断标准：观众能否更快更准地读图。</a:t>
            </a:r>
          </a:p>
        </p:txBody>
      </p:sp>
      <p:sp>
        <p:nvSpPr>
          <p:cNvPr id="7" name="矩形 6"/>
          <p:cNvSpPr/>
          <p:nvPr/>
        </p:nvSpPr>
        <p:spPr>
          <a:xfrm>
            <a:off x="6451600" y="1651000"/>
            <a:ext cx="4953000" cy="3175000"/>
          </a:xfrm>
          <a:prstGeom prst="rect">
            <a:avLst/>
          </a:prstGeom>
          <a:solidFill>
            <a:srgbClr val="FCFAF8"/>
          </a:solidFill>
          <a:ln w="19050">
            <a:solidFill>
              <a:srgbClr val="D1C4B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r>
              <a:rPr lang="zh-CN" altLang="en-US" b="1">
                <a:solidFill>
                  <a:srgbClr val="857066"/>
                </a:solidFill>
                <a:latin typeface="微软雅黑" panose="020B0503020204020204" pitchFamily="34" charset="-122"/>
              </a:rPr>
              <a:t>作业说明占位（可选）</a:t>
            </a:r>
          </a:p>
          <a:p>
            <a:pPr algn="ctr"/>
            <a:endParaRPr lang="zh-CN" altLang="en-US" b="1">
              <a:solidFill>
                <a:srgbClr val="857066"/>
              </a:solidFill>
              <a:latin typeface="微软雅黑" panose="020B0503020204020204" pitchFamily="34" charset="-122"/>
            </a:endParaRPr>
          </a:p>
          <a:p>
            <a:pPr algn="ctr"/>
            <a:r>
              <a:rPr lang="zh-CN" altLang="en-US" b="1">
                <a:solidFill>
                  <a:srgbClr val="857066"/>
                </a:solidFill>
                <a:latin typeface="微软雅黑" panose="020B0503020204020204" pitchFamily="34" charset="-122"/>
              </a:rPr>
              <a:t>可插入老师</a:t>
            </a:r>
            <a:r>
              <a:rPr lang="en-US" altLang="zh-CN" b="1">
                <a:solidFill>
                  <a:srgbClr val="857066"/>
                </a:solidFill>
                <a:latin typeface="微软雅黑" panose="020B0503020204020204" pitchFamily="34" charset="-122"/>
              </a:rPr>
              <a:t>PDF</a:t>
            </a:r>
            <a:r>
              <a:rPr lang="zh-CN" altLang="en-US" b="1">
                <a:solidFill>
                  <a:srgbClr val="857066"/>
                </a:solidFill>
                <a:latin typeface="微软雅黑" panose="020B0503020204020204" pitchFamily="34" charset="-122"/>
              </a:rPr>
              <a:t>要点截图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2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505" y="1651000"/>
            <a:ext cx="4950460" cy="31743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数据与可视编码说明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11200" y="1498600"/>
            <a:ext cx="5207000" cy="1754326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横轴：价格（</a:t>
            </a:r>
            <a:r>
              <a:rPr lang="en-US" altLang="zh-CN" sz="2200">
                <a:solidFill>
                  <a:srgbClr val="514137"/>
                </a:solidFill>
                <a:latin typeface="微软雅黑" panose="020B0503020204020204" pitchFamily="34" charset="-122"/>
              </a:rPr>
              <a:t>USD</a:t>
            </a: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）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纵轴：好评率（</a:t>
            </a:r>
            <a:r>
              <a:rPr lang="en-US" altLang="zh-CN" sz="2200">
                <a:solidFill>
                  <a:srgbClr val="514137"/>
                </a:solidFill>
                <a:latin typeface="微软雅黑" panose="020B0503020204020204" pitchFamily="34" charset="-122"/>
              </a:rPr>
              <a:t>%</a:t>
            </a: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）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气泡面积：在线人数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颜色：五个类别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3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0" y="1498600"/>
            <a:ext cx="7179945" cy="4110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3.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原图总览：高信息密度问题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950200" y="1524000"/>
            <a:ext cx="3632200" cy="150685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数据小而密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不够直观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主次层级竞争明显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难以比较多个游戏之间的关系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4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1524000"/>
            <a:ext cx="7447280" cy="4288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4.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原图问题一：对比敏感度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60400" y="5740400"/>
            <a:ext cx="10795000" cy="369332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zh-CN" altLang="en-US">
                <a:solidFill>
                  <a:srgbClr val="544034"/>
                </a:solidFill>
                <a:latin typeface="微软雅黑" panose="020B0503020204020204" pitchFamily="34" charset="-122"/>
              </a:rPr>
              <a:t>对比敏感度不足会让小字号和低对比对象难以识别，增加误读风险。</a:t>
            </a:r>
          </a:p>
        </p:txBody>
      </p:sp>
      <p:sp>
        <p:nvSpPr>
          <p:cNvPr id="9" name="矩形 8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5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1338580"/>
            <a:ext cx="6671945" cy="4180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5.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原图问题二：认知负担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0" y="1447800"/>
            <a:ext cx="5334000" cy="163004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000">
                <a:solidFill>
                  <a:srgbClr val="514137"/>
                </a:solidFill>
                <a:latin typeface="微软雅黑" panose="020B0503020204020204" pitchFamily="34" charset="-122"/>
              </a:rPr>
              <a:t>样例数量多时难以比较和观察全貌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000">
                <a:solidFill>
                  <a:srgbClr val="514137"/>
                </a:solidFill>
                <a:latin typeface="微软雅黑" panose="020B0503020204020204" pitchFamily="34" charset="-122"/>
              </a:rPr>
              <a:t>图例映射路径偏长，难以找到准确点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000">
                <a:solidFill>
                  <a:srgbClr val="514137"/>
                </a:solidFill>
                <a:latin typeface="微软雅黑" panose="020B0503020204020204" pitchFamily="34" charset="-122"/>
              </a:rPr>
              <a:t>注意力切换频繁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000">
                <a:solidFill>
                  <a:srgbClr val="514137"/>
                </a:solidFill>
                <a:latin typeface="微软雅黑" panose="020B0503020204020204" pitchFamily="34" charset="-122"/>
              </a:rPr>
              <a:t>颜色杂乱相间，令人眼花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6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415" y="1494155"/>
            <a:ext cx="5981065" cy="3444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6.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改进图总览：读图路径优化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0200" y="1524000"/>
            <a:ext cx="3632200" cy="188658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分区更明确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图例与主图区协同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高对比增强可读性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读图路径更稳定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鼠标放置可以显示详细信息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7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65" y="1524000"/>
            <a:ext cx="7508875" cy="4290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7.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分类视图：</a:t>
            </a:r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AAA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大作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0200" y="1524000"/>
            <a:ext cx="3632200" cy="150810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单类别后密度下降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更易定位离群点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价格评分关系更清晰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有助于局部分析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8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15" y="1524000"/>
            <a:ext cx="7416165" cy="4225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8.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分类视图：中型爆款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50200" y="1524000"/>
            <a:ext cx="3632200" cy="1508105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观察中价位聚集区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比较同类内部差异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验证筛选价值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zh-CN" altLang="en-US">
                <a:solidFill>
                  <a:srgbClr val="514137"/>
                </a:solidFill>
                <a:latin typeface="微软雅黑" panose="020B0503020204020204" pitchFamily="34" charset="-122"/>
              </a:rPr>
              <a:t>支持层次化阅读</a:t>
            </a:r>
          </a:p>
        </p:txBody>
      </p:sp>
      <p:sp>
        <p:nvSpPr>
          <p:cNvPr id="8" name="矩形 7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9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5" y="1524000"/>
            <a:ext cx="7287895" cy="4145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9.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其余分类快照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10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40" y="751840"/>
            <a:ext cx="5253990" cy="29502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380" y="751840"/>
            <a:ext cx="5281930" cy="29787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635" y="3900805"/>
            <a:ext cx="5253990" cy="2930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322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10.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原图 </a:t>
            </a:r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vs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改进图对比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11200" y="1498600"/>
          <a:ext cx="1076960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9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9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</a:rPr>
                        <a:t>对比维度</a:t>
                      </a:r>
                    </a:p>
                  </a:txBody>
                  <a:tcPr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</a:rPr>
                        <a:t>原图表现</a:t>
                      </a:r>
                    </a:p>
                  </a:txBody>
                  <a:tcPr>
                    <a:solidFill>
                      <a:srgbClr val="FFF2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</a:rPr>
                        <a:t>改进表现</a:t>
                      </a:r>
                    </a:p>
                  </a:txBody>
                  <a:tcPr>
                    <a:solidFill>
                      <a:srgbClr val="FF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视觉入口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多元素竞争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分区明确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对比敏感度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低对比区难读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高对比易识别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认知负担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一次处理对象过多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支持分层阅读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680"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信息效率</a:t>
                      </a:r>
                    </a:p>
                  </a:txBody>
                  <a:tcPr>
                    <a:solidFill>
                      <a:srgbClr val="FC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有信息但提取慢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>
                          <a:latin typeface="微软雅黑" panose="020B0503020204020204" pitchFamily="34" charset="-122"/>
                        </a:rPr>
                        <a:t>信息完整且提取更快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11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FBF7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33400" y="228600"/>
            <a:ext cx="8255000" cy="52197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en-US" altLang="zh-CN" sz="2800" b="1">
                <a:solidFill>
                  <a:srgbClr val="563B18"/>
                </a:solidFill>
                <a:latin typeface="微软雅黑" panose="020B0503020204020204" pitchFamily="34" charset="-122"/>
              </a:rPr>
              <a:t>11. </a:t>
            </a:r>
            <a:r>
              <a:rPr lang="zh-CN" altLang="en-US" sz="2800" b="1">
                <a:solidFill>
                  <a:srgbClr val="563B18"/>
                </a:solidFill>
                <a:latin typeface="微软雅黑" panose="020B0503020204020204" pitchFamily="34" charset="-122"/>
              </a:rPr>
              <a:t>结论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826500" y="304800"/>
            <a:ext cx="2921000" cy="276999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algn="r"/>
            <a:r>
              <a:rPr lang="en-US" altLang="zh-CN" sz="1200">
                <a:solidFill>
                  <a:srgbClr val="857066"/>
                </a:solidFill>
                <a:latin typeface="微软雅黑" panose="020B0503020204020204" pitchFamily="34" charset="-122"/>
              </a:rPr>
              <a:t>12-page optimized</a:t>
            </a:r>
            <a:endParaRPr lang="zh-CN" altLang="en-US" sz="1200">
              <a:solidFill>
                <a:srgbClr val="857066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38200" y="1600200"/>
            <a:ext cx="7112000" cy="1313180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可视化专业性在于传达效率，而非元素堆叠。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理论支撑：对比敏感度 </a:t>
            </a:r>
            <a:r>
              <a:rPr lang="en-US" altLang="zh-CN" sz="2200">
                <a:solidFill>
                  <a:srgbClr val="514137"/>
                </a:solidFill>
                <a:latin typeface="微软雅黑" panose="020B0503020204020204" pitchFamily="34" charset="-122"/>
              </a:rPr>
              <a:t>+ </a:t>
            </a: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视觉光学限制。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zh-CN" altLang="en-US" sz="2200">
                <a:solidFill>
                  <a:srgbClr val="514137"/>
                </a:solidFill>
                <a:latin typeface="微软雅黑" panose="020B0503020204020204" pitchFamily="34" charset="-122"/>
              </a:rPr>
              <a:t>改进图在读图效率和稳定性上更有优势。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8199" y="4953000"/>
            <a:ext cx="4894943" cy="1015663"/>
          </a:xfrm>
          <a:prstGeom prst="rect">
            <a:avLst/>
          </a:prstGeom>
          <a:noFill/>
        </p:spPr>
        <p:txBody>
          <a:bodyPr vert="horz"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成员分工：何键韬 </a:t>
            </a:r>
            <a:r>
              <a:rPr lang="zh-CN" altLang="en-US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数据收集、可视实现</a:t>
            </a:r>
            <a:endParaRPr lang="en-US" altLang="zh-CN" sz="2000" dirty="0">
              <a:solidFill>
                <a:srgbClr val="764A2D"/>
              </a:solidFill>
              <a:latin typeface="微软雅黑" panose="020B0503020204020204" pitchFamily="34" charset="-122"/>
            </a:endParaRPr>
          </a:p>
          <a:p>
            <a:r>
              <a:rPr lang="en-US" altLang="zh-CN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	     </a:t>
            </a:r>
            <a:r>
              <a:rPr lang="zh-CN" altLang="en-US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郑逸驰 </a:t>
            </a:r>
            <a:r>
              <a:rPr lang="zh-CN" altLang="en-US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报告撰写</a:t>
            </a:r>
            <a:endParaRPr lang="en-US" altLang="zh-CN" sz="2000" dirty="0">
              <a:solidFill>
                <a:srgbClr val="764A2D"/>
              </a:solidFill>
              <a:latin typeface="微软雅黑" panose="020B0503020204020204" pitchFamily="34" charset="-122"/>
            </a:endParaRPr>
          </a:p>
          <a:p>
            <a:r>
              <a:rPr lang="en-US" altLang="zh-CN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	     </a:t>
            </a:r>
            <a:r>
              <a:rPr lang="zh-CN" altLang="en-US" sz="2000" b="1" dirty="0">
                <a:solidFill>
                  <a:srgbClr val="764A2D"/>
                </a:solidFill>
                <a:latin typeface="微软雅黑" panose="020B0503020204020204" pitchFamily="34" charset="-122"/>
              </a:rPr>
              <a:t>孙海骏</a:t>
            </a:r>
            <a:r>
              <a:rPr lang="zh-CN" altLang="en-US" sz="2000" dirty="0">
                <a:solidFill>
                  <a:srgbClr val="764A2D"/>
                </a:solidFill>
                <a:latin typeface="微软雅黑" panose="020B0503020204020204" pitchFamily="34" charset="-122"/>
              </a:rPr>
              <a:t> 可视实现、汇报</a:t>
            </a:r>
          </a:p>
        </p:txBody>
      </p:sp>
      <p:sp>
        <p:nvSpPr>
          <p:cNvPr id="9" name="矩形 8"/>
          <p:cNvSpPr/>
          <p:nvPr/>
        </p:nvSpPr>
        <p:spPr>
          <a:xfrm>
            <a:off x="10668000" y="6273800"/>
            <a:ext cx="1092200" cy="304800"/>
          </a:xfrm>
          <a:prstGeom prst="rect">
            <a:avLst/>
          </a:prstGeom>
          <a:solidFill>
            <a:srgbClr val="FFF4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zh-CN" sz="1100" b="1">
                <a:solidFill>
                  <a:srgbClr val="A86742"/>
                </a:solidFill>
                <a:latin typeface="微软雅黑" panose="020B0503020204020204" pitchFamily="34" charset="-122"/>
              </a:rPr>
              <a:t>12 / 12</a:t>
            </a:r>
            <a:endParaRPr lang="zh-CN" altLang="en-US" sz="1100" b="1">
              <a:solidFill>
                <a:srgbClr val="A86742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480</Words>
  <Application>Microsoft Office PowerPoint</Application>
  <PresentationFormat>宽屏</PresentationFormat>
  <Paragraphs>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冰小幸 寒</dc:creator>
  <cp:lastModifiedBy>Z Blue</cp:lastModifiedBy>
  <cp:revision>11</cp:revision>
  <dcterms:created xsi:type="dcterms:W3CDTF">2026-04-05T02:38:00Z</dcterms:created>
  <dcterms:modified xsi:type="dcterms:W3CDTF">2026-04-10T04:23:37Z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C44CF5B450954D9882DD25D63D5A643D_13</vt:lpwstr>
  </property>
</Properties>
</file>