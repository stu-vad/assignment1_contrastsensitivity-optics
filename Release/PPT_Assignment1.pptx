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7" Type="http://schemas.openxmlformats.org/officeDocument/2006/relationships/tableStyles" Target="tableStyles.xml"/><Relationship Id="rId16" Type="http://schemas.openxmlformats.org/officeDocument/2006/relationships/viewProps" Target="viewProps.xml"/><Relationship Id="rId15" Type="http://schemas.openxmlformats.org/officeDocument/2006/relationships/presProps" Target="presProps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17251D-157D-4A93-8860-3E51ED663E19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FC78E8-33C0-47C5-AF77-A559993EE5A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17251D-157D-4A93-8860-3E51ED663E19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FC78E8-33C0-47C5-AF77-A559993EE5A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17251D-157D-4A93-8860-3E51ED663E19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FC78E8-33C0-47C5-AF77-A559993EE5A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17251D-157D-4A93-8860-3E51ED663E19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FC78E8-33C0-47C5-AF77-A559993EE5A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17251D-157D-4A93-8860-3E51ED663E19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FC78E8-33C0-47C5-AF77-A559993EE5A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17251D-157D-4A93-8860-3E51ED663E19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FC78E8-33C0-47C5-AF77-A559993EE5A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17251D-157D-4A93-8860-3E51ED663E19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FC78E8-33C0-47C5-AF77-A559993EE5A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17251D-157D-4A93-8860-3E51ED663E19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FC78E8-33C0-47C5-AF77-A559993EE5A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17251D-157D-4A93-8860-3E51ED663E19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FC78E8-33C0-47C5-AF77-A559993EE5A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17251D-157D-4A93-8860-3E51ED663E19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FC78E8-33C0-47C5-AF77-A559993EE5A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17251D-157D-4A93-8860-3E51ED663E19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FC78E8-33C0-47C5-AF77-A559993EE5A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17251D-157D-4A93-8860-3E51ED663E19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FC78E8-33C0-47C5-AF77-A559993EE5A7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/>
          <p:cNvSpPr/>
          <p:nvPr/>
        </p:nvSpPr>
        <p:spPr>
          <a:xfrm>
            <a:off x="660400" y="889000"/>
            <a:ext cx="152400" cy="4381500"/>
          </a:xfrm>
          <a:prstGeom prst="rect">
            <a:avLst/>
          </a:prstGeom>
          <a:solidFill>
            <a:srgbClr val="DF6C2D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/>
          <p:cNvSpPr txBox="1"/>
          <p:nvPr/>
        </p:nvSpPr>
        <p:spPr>
          <a:xfrm>
            <a:off x="1092200" y="965200"/>
            <a:ext cx="9779000" cy="1107996"/>
          </a:xfrm>
          <a:prstGeom prst="rect">
            <a:avLst/>
          </a:prstGeom>
          <a:noFill/>
        </p:spPr>
        <p:txBody>
          <a:bodyPr vert="horz" wrap="square" rtlCol="0" anchor="t">
            <a:spAutoFit/>
          </a:bodyPr>
          <a:lstStyle/>
          <a:p>
            <a:r>
              <a:rPr lang="en-US" altLang="zh-CN" sz="3300" b="1">
                <a:solidFill>
                  <a:srgbClr val="563B18"/>
                </a:solidFill>
                <a:latin typeface="微软雅黑" panose="020B0503020204020204" pitchFamily="34" charset="-122"/>
              </a:rPr>
              <a:t>Assignment 1</a:t>
            </a:r>
            <a:r>
              <a:rPr lang="zh-CN" altLang="en-US" sz="3300" b="1">
                <a:solidFill>
                  <a:srgbClr val="563B18"/>
                </a:solidFill>
                <a:latin typeface="微软雅黑" panose="020B0503020204020204" pitchFamily="34" charset="-122"/>
              </a:rPr>
              <a:t>：基于视觉感知局限的可视化对比改进</a:t>
            </a:r>
            <a:endParaRPr lang="zh-CN" altLang="en-US" sz="3300" b="1">
              <a:solidFill>
                <a:srgbClr val="563B18"/>
              </a:solidFill>
              <a:latin typeface="微软雅黑" panose="020B0503020204020204" pitchFamily="34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1117600" y="2514600"/>
            <a:ext cx="8890000" cy="398780"/>
          </a:xfrm>
          <a:prstGeom prst="rect">
            <a:avLst/>
          </a:prstGeom>
          <a:noFill/>
        </p:spPr>
        <p:txBody>
          <a:bodyPr vert="horz" wrap="square" rtlCol="0" anchor="t">
            <a:spAutoFit/>
          </a:bodyPr>
          <a:lstStyle/>
          <a:p>
            <a:r>
              <a:rPr lang="zh-CN" altLang="en-US" sz="2000">
                <a:solidFill>
                  <a:srgbClr val="675447"/>
                </a:solidFill>
                <a:latin typeface="微软雅黑" panose="020B0503020204020204" pitchFamily="34" charset="-122"/>
              </a:rPr>
              <a:t>主题：</a:t>
            </a:r>
            <a:r>
              <a:rPr lang="en-US" altLang="zh-CN" sz="2000">
                <a:solidFill>
                  <a:srgbClr val="675447"/>
                </a:solidFill>
                <a:latin typeface="微软雅黑" panose="020B0503020204020204" pitchFamily="34" charset="-122"/>
              </a:rPr>
              <a:t>Contrast Sensitivity &amp; Optics</a:t>
            </a:r>
            <a:endParaRPr lang="en-US" altLang="zh-CN" sz="2000">
              <a:solidFill>
                <a:srgbClr val="675447"/>
              </a:solidFill>
              <a:latin typeface="微软雅黑" panose="020B0503020204020204" pitchFamily="34" charset="-122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1117600" y="3354705"/>
            <a:ext cx="4572000" cy="398780"/>
          </a:xfrm>
          <a:prstGeom prst="rect">
            <a:avLst/>
          </a:prstGeom>
          <a:noFill/>
        </p:spPr>
        <p:txBody>
          <a:bodyPr vert="horz" wrap="square" rtlCol="0" anchor="t">
            <a:spAutoFit/>
          </a:bodyPr>
          <a:lstStyle/>
          <a:p>
            <a:r>
              <a:rPr lang="zh-CN" altLang="en-US" sz="2000" b="1">
                <a:solidFill>
                  <a:srgbClr val="764A2D"/>
                </a:solidFill>
                <a:latin typeface="微软雅黑" panose="020B0503020204020204" pitchFamily="34" charset="-122"/>
              </a:rPr>
              <a:t>成员分工：</a:t>
            </a:r>
            <a:endParaRPr lang="zh-CN" altLang="en-US" sz="2000" b="1">
              <a:solidFill>
                <a:srgbClr val="764A2D"/>
              </a:solidFill>
              <a:latin typeface="微软雅黑" panose="020B0503020204020204" pitchFamily="34" charset="-122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10668000" y="6273800"/>
            <a:ext cx="1092200" cy="304800"/>
          </a:xfrm>
          <a:prstGeom prst="rect">
            <a:avLst/>
          </a:prstGeom>
          <a:solidFill>
            <a:srgbClr val="FFF4EE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zh-CN" sz="1100" b="1">
                <a:solidFill>
                  <a:srgbClr val="A86742"/>
                </a:solidFill>
                <a:latin typeface="微软雅黑" panose="020B0503020204020204" pitchFamily="34" charset="-122"/>
              </a:rPr>
              <a:t>1 / 12</a:t>
            </a:r>
            <a:endParaRPr lang="zh-CN" altLang="en-US" sz="1100" b="1">
              <a:solidFill>
                <a:srgbClr val="A86742"/>
              </a:solidFill>
              <a:latin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/>
          <p:cNvSpPr/>
          <p:nvPr/>
        </p:nvSpPr>
        <p:spPr>
          <a:xfrm>
            <a:off x="0" y="0"/>
            <a:ext cx="12192000" cy="990600"/>
          </a:xfrm>
          <a:prstGeom prst="rect">
            <a:avLst/>
          </a:prstGeom>
          <a:solidFill>
            <a:srgbClr val="FBF7F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/>
          <p:cNvSpPr txBox="1"/>
          <p:nvPr/>
        </p:nvSpPr>
        <p:spPr>
          <a:xfrm>
            <a:off x="533400" y="228600"/>
            <a:ext cx="8255000" cy="523220"/>
          </a:xfrm>
          <a:prstGeom prst="rect">
            <a:avLst/>
          </a:prstGeom>
          <a:noFill/>
        </p:spPr>
        <p:txBody>
          <a:bodyPr vert="horz" wrap="square" rtlCol="0" anchor="t">
            <a:spAutoFit/>
          </a:bodyPr>
          <a:lstStyle/>
          <a:p>
            <a:r>
              <a:rPr lang="en-US" altLang="zh-CN" sz="2800" b="1">
                <a:solidFill>
                  <a:srgbClr val="563B18"/>
                </a:solidFill>
                <a:latin typeface="微软雅黑" panose="020B0503020204020204" pitchFamily="34" charset="-122"/>
              </a:rPr>
              <a:t>1. </a:t>
            </a:r>
            <a:r>
              <a:rPr lang="zh-CN" altLang="en-US" sz="2800" b="1">
                <a:solidFill>
                  <a:srgbClr val="563B18"/>
                </a:solidFill>
                <a:latin typeface="微软雅黑" panose="020B0503020204020204" pitchFamily="34" charset="-122"/>
              </a:rPr>
              <a:t>作业要求与汇报目标</a:t>
            </a:r>
            <a:endParaRPr lang="zh-CN" altLang="en-US" sz="2800" b="1">
              <a:solidFill>
                <a:srgbClr val="563B18"/>
              </a:solidFill>
              <a:latin typeface="微软雅黑" panose="020B0503020204020204" pitchFamily="3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711200" y="1422400"/>
            <a:ext cx="5334000" cy="2015936"/>
          </a:xfrm>
          <a:prstGeom prst="rect">
            <a:avLst/>
          </a:prstGeom>
          <a:noFill/>
        </p:spPr>
        <p:txBody>
          <a:bodyPr vert="horz" wrap="square" rtlCol="0" anchor="t">
            <a:spAutoFit/>
          </a:bodyPr>
          <a:lstStyle/>
          <a:p>
            <a:pPr marL="457200" indent="-457200">
              <a:spcAft>
                <a:spcPts val="800"/>
              </a:spcAft>
              <a:buFont typeface="+mj-lt"/>
              <a:buChar char="•"/>
            </a:pPr>
            <a:r>
              <a:rPr lang="zh-CN" altLang="en-US" sz="2100">
                <a:solidFill>
                  <a:srgbClr val="514137"/>
                </a:solidFill>
                <a:latin typeface="微软雅黑" panose="020B0503020204020204" pitchFamily="34" charset="-122"/>
              </a:rPr>
              <a:t>作业要求：展示误导性可视化，并给出同数据改进版。</a:t>
            </a:r>
            <a:endParaRPr lang="zh-CN" altLang="en-US" sz="2100">
              <a:solidFill>
                <a:srgbClr val="514137"/>
              </a:solidFill>
              <a:latin typeface="微软雅黑" panose="020B0503020204020204" pitchFamily="34" charset="-122"/>
            </a:endParaRPr>
          </a:p>
          <a:p>
            <a:pPr marL="457200" indent="-457200">
              <a:spcAft>
                <a:spcPts val="800"/>
              </a:spcAft>
              <a:buFont typeface="+mj-lt"/>
              <a:buChar char="•"/>
            </a:pPr>
            <a:r>
              <a:rPr lang="zh-CN" altLang="en-US" sz="2100">
                <a:solidFill>
                  <a:srgbClr val="514137"/>
                </a:solidFill>
                <a:latin typeface="微软雅黑" panose="020B0503020204020204" pitchFamily="34" charset="-122"/>
              </a:rPr>
              <a:t>理论依据：对比敏感度与视觉光学限制。</a:t>
            </a:r>
            <a:endParaRPr lang="zh-CN" altLang="en-US" sz="2100">
              <a:solidFill>
                <a:srgbClr val="514137"/>
              </a:solidFill>
              <a:latin typeface="微软雅黑" panose="020B0503020204020204" pitchFamily="34" charset="-122"/>
            </a:endParaRPr>
          </a:p>
          <a:p>
            <a:pPr marL="457200" indent="-457200">
              <a:spcAft>
                <a:spcPts val="800"/>
              </a:spcAft>
              <a:buFont typeface="+mj-lt"/>
              <a:buChar char="•"/>
            </a:pPr>
            <a:r>
              <a:rPr lang="zh-CN" altLang="en-US" sz="2100">
                <a:solidFill>
                  <a:srgbClr val="514137"/>
                </a:solidFill>
                <a:latin typeface="微软雅黑" panose="020B0503020204020204" pitchFamily="34" charset="-122"/>
              </a:rPr>
              <a:t>本汇报目标：解释误导机制与改进效果。</a:t>
            </a:r>
            <a:endParaRPr lang="zh-CN" altLang="en-US" sz="2100">
              <a:solidFill>
                <a:srgbClr val="514137"/>
              </a:solidFill>
              <a:latin typeface="微软雅黑" panose="020B0503020204020204" pitchFamily="34" charset="-122"/>
            </a:endParaRPr>
          </a:p>
          <a:p>
            <a:pPr marL="457200" indent="-457200">
              <a:spcAft>
                <a:spcPts val="800"/>
              </a:spcAft>
              <a:buFont typeface="+mj-lt"/>
              <a:buChar char="•"/>
            </a:pPr>
            <a:r>
              <a:rPr lang="zh-CN" altLang="en-US" sz="2100">
                <a:solidFill>
                  <a:srgbClr val="514137"/>
                </a:solidFill>
                <a:latin typeface="微软雅黑" panose="020B0503020204020204" pitchFamily="34" charset="-122"/>
              </a:rPr>
              <a:t>判断标准：观众能否更快更准地读图。</a:t>
            </a:r>
            <a:endParaRPr lang="zh-CN" altLang="en-US" sz="2100">
              <a:solidFill>
                <a:srgbClr val="514137"/>
              </a:solidFill>
              <a:latin typeface="微软雅黑" panose="020B0503020204020204" pitchFamily="34" charset="-122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6451600" y="1651000"/>
            <a:ext cx="4953000" cy="3175000"/>
          </a:xfrm>
          <a:prstGeom prst="rect">
            <a:avLst/>
          </a:prstGeom>
          <a:solidFill>
            <a:srgbClr val="FCFAF8"/>
          </a:solidFill>
          <a:ln w="19050">
            <a:solidFill>
              <a:srgbClr val="D1C4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r>
              <a:rPr lang="zh-CN" altLang="en-US" b="1">
                <a:solidFill>
                  <a:srgbClr val="857066"/>
                </a:solidFill>
                <a:latin typeface="微软雅黑" panose="020B0503020204020204" pitchFamily="34" charset="-122"/>
              </a:rPr>
              <a:t>作业说明占位（可选）</a:t>
            </a:r>
            <a:endParaRPr lang="zh-CN" altLang="en-US" b="1">
              <a:solidFill>
                <a:srgbClr val="857066"/>
              </a:solidFill>
              <a:latin typeface="微软雅黑" panose="020B0503020204020204" pitchFamily="34" charset="-122"/>
            </a:endParaRPr>
          </a:p>
          <a:p>
            <a:pPr algn="ctr"/>
            <a:endParaRPr lang="zh-CN" altLang="en-US" b="1">
              <a:solidFill>
                <a:srgbClr val="857066"/>
              </a:solidFill>
              <a:latin typeface="微软雅黑" panose="020B0503020204020204" pitchFamily="34" charset="-122"/>
            </a:endParaRPr>
          </a:p>
          <a:p>
            <a:pPr algn="ctr"/>
            <a:r>
              <a:rPr lang="zh-CN" altLang="en-US" b="1">
                <a:solidFill>
                  <a:srgbClr val="857066"/>
                </a:solidFill>
                <a:latin typeface="微软雅黑" panose="020B0503020204020204" pitchFamily="34" charset="-122"/>
              </a:rPr>
              <a:t>可插入老师</a:t>
            </a:r>
            <a:r>
              <a:rPr lang="en-US" altLang="zh-CN" b="1">
                <a:solidFill>
                  <a:srgbClr val="857066"/>
                </a:solidFill>
                <a:latin typeface="微软雅黑" panose="020B0503020204020204" pitchFamily="34" charset="-122"/>
              </a:rPr>
              <a:t>PDF</a:t>
            </a:r>
            <a:r>
              <a:rPr lang="zh-CN" altLang="en-US" b="1">
                <a:solidFill>
                  <a:srgbClr val="857066"/>
                </a:solidFill>
                <a:latin typeface="微软雅黑" panose="020B0503020204020204" pitchFamily="34" charset="-122"/>
              </a:rPr>
              <a:t>要点截图</a:t>
            </a:r>
            <a:endParaRPr lang="zh-CN" altLang="en-US" b="1">
              <a:solidFill>
                <a:srgbClr val="857066"/>
              </a:solidFill>
              <a:latin typeface="微软雅黑" panose="020B0503020204020204" pitchFamily="34" charset="-122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10668000" y="6273800"/>
            <a:ext cx="1092200" cy="304800"/>
          </a:xfrm>
          <a:prstGeom prst="rect">
            <a:avLst/>
          </a:prstGeom>
          <a:solidFill>
            <a:srgbClr val="FFF4EE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zh-CN" sz="1100" b="1">
                <a:solidFill>
                  <a:srgbClr val="A86742"/>
                </a:solidFill>
                <a:latin typeface="微软雅黑" panose="020B0503020204020204" pitchFamily="34" charset="-122"/>
              </a:rPr>
              <a:t>2 / 12</a:t>
            </a:r>
            <a:endParaRPr lang="zh-CN" altLang="en-US" sz="1100" b="1">
              <a:solidFill>
                <a:srgbClr val="A86742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53505" y="1651000"/>
            <a:ext cx="4950460" cy="317436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/>
          <p:cNvSpPr/>
          <p:nvPr/>
        </p:nvSpPr>
        <p:spPr>
          <a:xfrm>
            <a:off x="0" y="0"/>
            <a:ext cx="12192000" cy="990600"/>
          </a:xfrm>
          <a:prstGeom prst="rect">
            <a:avLst/>
          </a:prstGeom>
          <a:solidFill>
            <a:srgbClr val="FBF7F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/>
          <p:cNvSpPr txBox="1"/>
          <p:nvPr/>
        </p:nvSpPr>
        <p:spPr>
          <a:xfrm>
            <a:off x="533400" y="228600"/>
            <a:ext cx="8255000" cy="523220"/>
          </a:xfrm>
          <a:prstGeom prst="rect">
            <a:avLst/>
          </a:prstGeom>
          <a:noFill/>
        </p:spPr>
        <p:txBody>
          <a:bodyPr vert="horz" wrap="square" rtlCol="0" anchor="t">
            <a:spAutoFit/>
          </a:bodyPr>
          <a:lstStyle/>
          <a:p>
            <a:r>
              <a:rPr lang="en-US" altLang="zh-CN" sz="2800" b="1">
                <a:solidFill>
                  <a:srgbClr val="563B18"/>
                </a:solidFill>
                <a:latin typeface="微软雅黑" panose="020B0503020204020204" pitchFamily="34" charset="-122"/>
              </a:rPr>
              <a:t>2. </a:t>
            </a:r>
            <a:r>
              <a:rPr lang="zh-CN" altLang="en-US" sz="2800" b="1">
                <a:solidFill>
                  <a:srgbClr val="563B18"/>
                </a:solidFill>
                <a:latin typeface="微软雅黑" panose="020B0503020204020204" pitchFamily="34" charset="-122"/>
              </a:rPr>
              <a:t>数据与可视编码说明</a:t>
            </a:r>
            <a:endParaRPr lang="zh-CN" altLang="en-US" sz="2800" b="1">
              <a:solidFill>
                <a:srgbClr val="563B18"/>
              </a:solidFill>
              <a:latin typeface="微软雅黑" panose="020B0503020204020204" pitchFamily="3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711200" y="1498600"/>
            <a:ext cx="5207000" cy="1754326"/>
          </a:xfrm>
          <a:prstGeom prst="rect">
            <a:avLst/>
          </a:prstGeom>
          <a:noFill/>
        </p:spPr>
        <p:txBody>
          <a:bodyPr vert="horz" wrap="square" rtlCol="0" anchor="t">
            <a:spAutoFit/>
          </a:bodyPr>
          <a:lstStyle/>
          <a:p>
            <a:pPr marL="457200" indent="-457200">
              <a:spcAft>
                <a:spcPts val="800"/>
              </a:spcAft>
              <a:buFont typeface="+mj-lt"/>
              <a:buChar char="•"/>
            </a:pPr>
            <a:r>
              <a:rPr lang="zh-CN" altLang="en-US" sz="2200">
                <a:solidFill>
                  <a:srgbClr val="514137"/>
                </a:solidFill>
                <a:latin typeface="微软雅黑" panose="020B0503020204020204" pitchFamily="34" charset="-122"/>
              </a:rPr>
              <a:t>横轴：价格（</a:t>
            </a:r>
            <a:r>
              <a:rPr lang="en-US" altLang="zh-CN" sz="2200">
                <a:solidFill>
                  <a:srgbClr val="514137"/>
                </a:solidFill>
                <a:latin typeface="微软雅黑" panose="020B0503020204020204" pitchFamily="34" charset="-122"/>
              </a:rPr>
              <a:t>USD</a:t>
            </a:r>
            <a:r>
              <a:rPr lang="zh-CN" altLang="en-US" sz="2200">
                <a:solidFill>
                  <a:srgbClr val="514137"/>
                </a:solidFill>
                <a:latin typeface="微软雅黑" panose="020B0503020204020204" pitchFamily="34" charset="-122"/>
              </a:rPr>
              <a:t>）</a:t>
            </a:r>
            <a:endParaRPr lang="zh-CN" altLang="en-US" sz="2200">
              <a:solidFill>
                <a:srgbClr val="514137"/>
              </a:solidFill>
              <a:latin typeface="微软雅黑" panose="020B0503020204020204" pitchFamily="34" charset="-122"/>
            </a:endParaRPr>
          </a:p>
          <a:p>
            <a:pPr marL="457200" indent="-457200">
              <a:spcAft>
                <a:spcPts val="800"/>
              </a:spcAft>
              <a:buFont typeface="+mj-lt"/>
              <a:buChar char="•"/>
            </a:pPr>
            <a:r>
              <a:rPr lang="zh-CN" altLang="en-US" sz="2200">
                <a:solidFill>
                  <a:srgbClr val="514137"/>
                </a:solidFill>
                <a:latin typeface="微软雅黑" panose="020B0503020204020204" pitchFamily="34" charset="-122"/>
              </a:rPr>
              <a:t>纵轴：好评率（</a:t>
            </a:r>
            <a:r>
              <a:rPr lang="en-US" altLang="zh-CN" sz="2200">
                <a:solidFill>
                  <a:srgbClr val="514137"/>
                </a:solidFill>
                <a:latin typeface="微软雅黑" panose="020B0503020204020204" pitchFamily="34" charset="-122"/>
              </a:rPr>
              <a:t>%</a:t>
            </a:r>
            <a:r>
              <a:rPr lang="zh-CN" altLang="en-US" sz="2200">
                <a:solidFill>
                  <a:srgbClr val="514137"/>
                </a:solidFill>
                <a:latin typeface="微软雅黑" panose="020B0503020204020204" pitchFamily="34" charset="-122"/>
              </a:rPr>
              <a:t>）</a:t>
            </a:r>
            <a:endParaRPr lang="zh-CN" altLang="en-US" sz="2200">
              <a:solidFill>
                <a:srgbClr val="514137"/>
              </a:solidFill>
              <a:latin typeface="微软雅黑" panose="020B0503020204020204" pitchFamily="34" charset="-122"/>
            </a:endParaRPr>
          </a:p>
          <a:p>
            <a:pPr marL="457200" indent="-457200">
              <a:spcAft>
                <a:spcPts val="800"/>
              </a:spcAft>
              <a:buFont typeface="+mj-lt"/>
              <a:buChar char="•"/>
            </a:pPr>
            <a:r>
              <a:rPr lang="zh-CN" altLang="en-US" sz="2200">
                <a:solidFill>
                  <a:srgbClr val="514137"/>
                </a:solidFill>
                <a:latin typeface="微软雅黑" panose="020B0503020204020204" pitchFamily="34" charset="-122"/>
              </a:rPr>
              <a:t>气泡面积：在线人数</a:t>
            </a:r>
            <a:endParaRPr lang="zh-CN" altLang="en-US" sz="2200">
              <a:solidFill>
                <a:srgbClr val="514137"/>
              </a:solidFill>
              <a:latin typeface="微软雅黑" panose="020B0503020204020204" pitchFamily="34" charset="-122"/>
            </a:endParaRPr>
          </a:p>
          <a:p>
            <a:pPr marL="457200" indent="-457200">
              <a:spcAft>
                <a:spcPts val="800"/>
              </a:spcAft>
              <a:buFont typeface="+mj-lt"/>
              <a:buChar char="•"/>
            </a:pPr>
            <a:r>
              <a:rPr lang="zh-CN" altLang="en-US" sz="2200">
                <a:solidFill>
                  <a:srgbClr val="514137"/>
                </a:solidFill>
                <a:latin typeface="微软雅黑" panose="020B0503020204020204" pitchFamily="34" charset="-122"/>
              </a:rPr>
              <a:t>颜色：五个类别</a:t>
            </a:r>
            <a:endParaRPr lang="zh-CN" altLang="en-US" sz="2200">
              <a:solidFill>
                <a:srgbClr val="514137"/>
              </a:solidFill>
              <a:latin typeface="微软雅黑" panose="020B0503020204020204" pitchFamily="34" charset="-122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10668000" y="6273800"/>
            <a:ext cx="1092200" cy="304800"/>
          </a:xfrm>
          <a:prstGeom prst="rect">
            <a:avLst/>
          </a:prstGeom>
          <a:solidFill>
            <a:srgbClr val="FFF4EE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zh-CN" sz="1100" b="1">
                <a:solidFill>
                  <a:srgbClr val="A86742"/>
                </a:solidFill>
                <a:latin typeface="微软雅黑" panose="020B0503020204020204" pitchFamily="34" charset="-122"/>
              </a:rPr>
              <a:t>3 / 12</a:t>
            </a:r>
            <a:endParaRPr lang="zh-CN" altLang="en-US" sz="1100" b="1">
              <a:solidFill>
                <a:srgbClr val="A86742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27500" y="1498600"/>
            <a:ext cx="7179945" cy="411099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/>
          <p:cNvSpPr/>
          <p:nvPr/>
        </p:nvSpPr>
        <p:spPr>
          <a:xfrm>
            <a:off x="0" y="0"/>
            <a:ext cx="12192000" cy="990600"/>
          </a:xfrm>
          <a:prstGeom prst="rect">
            <a:avLst/>
          </a:prstGeom>
          <a:solidFill>
            <a:srgbClr val="FBF7F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/>
          <p:cNvSpPr txBox="1"/>
          <p:nvPr/>
        </p:nvSpPr>
        <p:spPr>
          <a:xfrm>
            <a:off x="533400" y="228600"/>
            <a:ext cx="8255000" cy="523220"/>
          </a:xfrm>
          <a:prstGeom prst="rect">
            <a:avLst/>
          </a:prstGeom>
          <a:noFill/>
        </p:spPr>
        <p:txBody>
          <a:bodyPr vert="horz" wrap="square" rtlCol="0" anchor="t">
            <a:spAutoFit/>
          </a:bodyPr>
          <a:lstStyle/>
          <a:p>
            <a:r>
              <a:rPr lang="en-US" altLang="zh-CN" sz="2800" b="1">
                <a:solidFill>
                  <a:srgbClr val="563B18"/>
                </a:solidFill>
                <a:latin typeface="微软雅黑" panose="020B0503020204020204" pitchFamily="34" charset="-122"/>
              </a:rPr>
              <a:t>3. </a:t>
            </a:r>
            <a:r>
              <a:rPr lang="zh-CN" altLang="en-US" sz="2800" b="1">
                <a:solidFill>
                  <a:srgbClr val="563B18"/>
                </a:solidFill>
                <a:latin typeface="微软雅黑" panose="020B0503020204020204" pitchFamily="34" charset="-122"/>
              </a:rPr>
              <a:t>原图总览：高信息密度问题</a:t>
            </a:r>
            <a:endParaRPr lang="zh-CN" altLang="en-US" sz="2800" b="1">
              <a:solidFill>
                <a:srgbClr val="563B18"/>
              </a:solidFill>
              <a:latin typeface="微软雅黑" panose="020B0503020204020204" pitchFamily="34" charset="-122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7950200" y="1524000"/>
            <a:ext cx="3632200" cy="1506855"/>
          </a:xfrm>
          <a:prstGeom prst="rect">
            <a:avLst/>
          </a:prstGeom>
          <a:noFill/>
        </p:spPr>
        <p:txBody>
          <a:bodyPr vert="horz" wrap="square" rtlCol="0" anchor="t">
            <a:spAutoFit/>
          </a:bodyPr>
          <a:lstStyle/>
          <a:p>
            <a:pPr marL="342900" indent="-342900">
              <a:spcAft>
                <a:spcPts val="800"/>
              </a:spcAft>
              <a:buFont typeface="+mj-lt"/>
              <a:buChar char="•"/>
            </a:pPr>
            <a:r>
              <a:rPr lang="zh-CN" altLang="en-US">
                <a:solidFill>
                  <a:srgbClr val="514137"/>
                </a:solidFill>
                <a:latin typeface="微软雅黑" panose="020B0503020204020204" pitchFamily="34" charset="-122"/>
              </a:rPr>
              <a:t>数据小而</a:t>
            </a:r>
            <a:r>
              <a:rPr lang="zh-CN" altLang="en-US">
                <a:solidFill>
                  <a:srgbClr val="514137"/>
                </a:solidFill>
                <a:latin typeface="微软雅黑" panose="020B0503020204020204" pitchFamily="34" charset="-122"/>
              </a:rPr>
              <a:t>密</a:t>
            </a:r>
            <a:endParaRPr lang="zh-CN" altLang="en-US">
              <a:solidFill>
                <a:srgbClr val="514137"/>
              </a:solidFill>
              <a:latin typeface="微软雅黑" panose="020B0503020204020204" pitchFamily="34" charset="-122"/>
            </a:endParaRPr>
          </a:p>
          <a:p>
            <a:pPr marL="342900" indent="-342900">
              <a:spcAft>
                <a:spcPts val="800"/>
              </a:spcAft>
              <a:buFont typeface="+mj-lt"/>
              <a:buChar char="•"/>
            </a:pPr>
            <a:r>
              <a:rPr lang="zh-CN" altLang="en-US">
                <a:solidFill>
                  <a:srgbClr val="514137"/>
                </a:solidFill>
                <a:latin typeface="微软雅黑" panose="020B0503020204020204" pitchFamily="34" charset="-122"/>
              </a:rPr>
              <a:t>不够</a:t>
            </a:r>
            <a:r>
              <a:rPr lang="zh-CN" altLang="en-US">
                <a:solidFill>
                  <a:srgbClr val="514137"/>
                </a:solidFill>
                <a:latin typeface="微软雅黑" panose="020B0503020204020204" pitchFamily="34" charset="-122"/>
              </a:rPr>
              <a:t>直观</a:t>
            </a:r>
            <a:endParaRPr lang="zh-CN" altLang="en-US">
              <a:solidFill>
                <a:srgbClr val="514137"/>
              </a:solidFill>
              <a:latin typeface="微软雅黑" panose="020B0503020204020204" pitchFamily="34" charset="-122"/>
            </a:endParaRPr>
          </a:p>
          <a:p>
            <a:pPr marL="342900" indent="-342900">
              <a:spcAft>
                <a:spcPts val="800"/>
              </a:spcAft>
              <a:buFont typeface="+mj-lt"/>
              <a:buChar char="•"/>
            </a:pPr>
            <a:r>
              <a:rPr lang="zh-CN" altLang="en-US">
                <a:solidFill>
                  <a:srgbClr val="514137"/>
                </a:solidFill>
                <a:latin typeface="微软雅黑" panose="020B0503020204020204" pitchFamily="34" charset="-122"/>
              </a:rPr>
              <a:t>主次层级竞争明显</a:t>
            </a:r>
            <a:endParaRPr lang="zh-CN" altLang="en-US">
              <a:solidFill>
                <a:srgbClr val="514137"/>
              </a:solidFill>
              <a:latin typeface="微软雅黑" panose="020B0503020204020204" pitchFamily="34" charset="-122"/>
            </a:endParaRPr>
          </a:p>
          <a:p>
            <a:pPr marL="342900" indent="-342900">
              <a:spcAft>
                <a:spcPts val="800"/>
              </a:spcAft>
              <a:buFont typeface="+mj-lt"/>
              <a:buChar char="•"/>
            </a:pPr>
            <a:r>
              <a:rPr lang="zh-CN" altLang="en-US">
                <a:solidFill>
                  <a:srgbClr val="514137"/>
                </a:solidFill>
                <a:latin typeface="微软雅黑" panose="020B0503020204020204" pitchFamily="34" charset="-122"/>
              </a:rPr>
              <a:t>难以比较多个游戏之间的</a:t>
            </a:r>
            <a:r>
              <a:rPr lang="zh-CN" altLang="en-US">
                <a:solidFill>
                  <a:srgbClr val="514137"/>
                </a:solidFill>
                <a:latin typeface="微软雅黑" panose="020B0503020204020204" pitchFamily="34" charset="-122"/>
              </a:rPr>
              <a:t>关系</a:t>
            </a:r>
            <a:endParaRPr lang="zh-CN" altLang="en-US">
              <a:solidFill>
                <a:srgbClr val="514137"/>
              </a:solidFill>
              <a:latin typeface="微软雅黑" panose="020B0503020204020204" pitchFamily="34" charset="-122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10668000" y="6273800"/>
            <a:ext cx="1092200" cy="304800"/>
          </a:xfrm>
          <a:prstGeom prst="rect">
            <a:avLst/>
          </a:prstGeom>
          <a:solidFill>
            <a:srgbClr val="FFF4EE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zh-CN" sz="1100" b="1">
                <a:solidFill>
                  <a:srgbClr val="A86742"/>
                </a:solidFill>
                <a:latin typeface="微软雅黑" panose="020B0503020204020204" pitchFamily="34" charset="-122"/>
              </a:rPr>
              <a:t>4 / 12</a:t>
            </a:r>
            <a:endParaRPr lang="zh-CN" altLang="en-US" sz="1100" b="1">
              <a:solidFill>
                <a:srgbClr val="A86742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7190" y="1524000"/>
            <a:ext cx="7447280" cy="428815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/>
          <p:cNvSpPr/>
          <p:nvPr/>
        </p:nvSpPr>
        <p:spPr>
          <a:xfrm>
            <a:off x="0" y="0"/>
            <a:ext cx="12192000" cy="990600"/>
          </a:xfrm>
          <a:prstGeom prst="rect">
            <a:avLst/>
          </a:prstGeom>
          <a:solidFill>
            <a:srgbClr val="FBF7F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/>
          <p:cNvSpPr txBox="1"/>
          <p:nvPr/>
        </p:nvSpPr>
        <p:spPr>
          <a:xfrm>
            <a:off x="533400" y="228600"/>
            <a:ext cx="8255000" cy="523220"/>
          </a:xfrm>
          <a:prstGeom prst="rect">
            <a:avLst/>
          </a:prstGeom>
          <a:noFill/>
        </p:spPr>
        <p:txBody>
          <a:bodyPr vert="horz" wrap="square" rtlCol="0" anchor="t">
            <a:spAutoFit/>
          </a:bodyPr>
          <a:lstStyle/>
          <a:p>
            <a:r>
              <a:rPr lang="en-US" altLang="zh-CN" sz="2800" b="1">
                <a:solidFill>
                  <a:srgbClr val="563B18"/>
                </a:solidFill>
                <a:latin typeface="微软雅黑" panose="020B0503020204020204" pitchFamily="34" charset="-122"/>
              </a:rPr>
              <a:t>4. </a:t>
            </a:r>
            <a:r>
              <a:rPr lang="zh-CN" altLang="en-US" sz="2800" b="1">
                <a:solidFill>
                  <a:srgbClr val="563B18"/>
                </a:solidFill>
                <a:latin typeface="微软雅黑" panose="020B0503020204020204" pitchFamily="34" charset="-122"/>
              </a:rPr>
              <a:t>原图问题一：对比敏感度</a:t>
            </a:r>
            <a:endParaRPr lang="zh-CN" altLang="en-US" sz="2800" b="1">
              <a:solidFill>
                <a:srgbClr val="563B18"/>
              </a:solidFill>
              <a:latin typeface="微软雅黑" panose="020B0503020204020204" pitchFamily="34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660400" y="5740400"/>
            <a:ext cx="10795000" cy="369332"/>
          </a:xfrm>
          <a:prstGeom prst="rect">
            <a:avLst/>
          </a:prstGeom>
          <a:noFill/>
        </p:spPr>
        <p:txBody>
          <a:bodyPr vert="horz" wrap="square" rtlCol="0" anchor="t">
            <a:spAutoFit/>
          </a:bodyPr>
          <a:lstStyle/>
          <a:p>
            <a:r>
              <a:rPr lang="zh-CN" altLang="en-US">
                <a:solidFill>
                  <a:srgbClr val="544034"/>
                </a:solidFill>
                <a:latin typeface="微软雅黑" panose="020B0503020204020204" pitchFamily="34" charset="-122"/>
              </a:rPr>
              <a:t>对比敏感度不足会让小字号和低对比对象难以识别，增加误读风险。</a:t>
            </a:r>
            <a:endParaRPr lang="zh-CN" altLang="en-US">
              <a:solidFill>
                <a:srgbClr val="544034"/>
              </a:solidFill>
              <a:latin typeface="微软雅黑" panose="020B0503020204020204" pitchFamily="34" charset="-122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10668000" y="6273800"/>
            <a:ext cx="1092200" cy="304800"/>
          </a:xfrm>
          <a:prstGeom prst="rect">
            <a:avLst/>
          </a:prstGeom>
          <a:solidFill>
            <a:srgbClr val="FFF4EE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zh-CN" sz="1100" b="1">
                <a:solidFill>
                  <a:srgbClr val="A86742"/>
                </a:solidFill>
                <a:latin typeface="微软雅黑" panose="020B0503020204020204" pitchFamily="34" charset="-122"/>
              </a:rPr>
              <a:t>5 / 12</a:t>
            </a:r>
            <a:endParaRPr lang="zh-CN" altLang="en-US" sz="1100" b="1">
              <a:solidFill>
                <a:srgbClr val="A86742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90725" y="1338580"/>
            <a:ext cx="6671945" cy="41808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/>
          <p:cNvSpPr/>
          <p:nvPr/>
        </p:nvSpPr>
        <p:spPr>
          <a:xfrm>
            <a:off x="0" y="0"/>
            <a:ext cx="12192000" cy="990600"/>
          </a:xfrm>
          <a:prstGeom prst="rect">
            <a:avLst/>
          </a:prstGeom>
          <a:solidFill>
            <a:srgbClr val="FBF7F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/>
          <p:cNvSpPr txBox="1"/>
          <p:nvPr/>
        </p:nvSpPr>
        <p:spPr>
          <a:xfrm>
            <a:off x="533400" y="228600"/>
            <a:ext cx="8255000" cy="523220"/>
          </a:xfrm>
          <a:prstGeom prst="rect">
            <a:avLst/>
          </a:prstGeom>
          <a:noFill/>
        </p:spPr>
        <p:txBody>
          <a:bodyPr vert="horz" wrap="square" rtlCol="0" anchor="t">
            <a:spAutoFit/>
          </a:bodyPr>
          <a:lstStyle/>
          <a:p>
            <a:r>
              <a:rPr lang="en-US" altLang="zh-CN" sz="2800" b="1">
                <a:solidFill>
                  <a:srgbClr val="563B18"/>
                </a:solidFill>
                <a:latin typeface="微软雅黑" panose="020B0503020204020204" pitchFamily="34" charset="-122"/>
              </a:rPr>
              <a:t>5. </a:t>
            </a:r>
            <a:r>
              <a:rPr lang="zh-CN" altLang="en-US" sz="2800" b="1">
                <a:solidFill>
                  <a:srgbClr val="563B18"/>
                </a:solidFill>
                <a:latin typeface="微软雅黑" panose="020B0503020204020204" pitchFamily="34" charset="-122"/>
              </a:rPr>
              <a:t>原图问题二：认知负担</a:t>
            </a:r>
            <a:endParaRPr lang="zh-CN" altLang="en-US" sz="2800" b="1">
              <a:solidFill>
                <a:srgbClr val="563B18"/>
              </a:solidFill>
              <a:latin typeface="微软雅黑" panose="020B0503020204020204" pitchFamily="34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8826500" y="304800"/>
            <a:ext cx="2921000" cy="276999"/>
          </a:xfrm>
          <a:prstGeom prst="rect">
            <a:avLst/>
          </a:prstGeom>
          <a:noFill/>
        </p:spPr>
        <p:txBody>
          <a:bodyPr vert="horz" wrap="square" rtlCol="0" anchor="t">
            <a:spAutoFit/>
          </a:bodyPr>
          <a:lstStyle/>
          <a:p>
            <a:pPr algn="r"/>
            <a:r>
              <a:rPr lang="en-US" altLang="zh-CN" sz="1200">
                <a:solidFill>
                  <a:srgbClr val="857066"/>
                </a:solidFill>
                <a:latin typeface="微软雅黑" panose="020B0503020204020204" pitchFamily="34" charset="-122"/>
              </a:rPr>
              <a:t>12-page optimized</a:t>
            </a:r>
            <a:endParaRPr lang="zh-CN" altLang="en-US" sz="1200">
              <a:solidFill>
                <a:srgbClr val="857066"/>
              </a:solidFill>
              <a:latin typeface="微软雅黑" panose="020B0503020204020204" pitchFamily="3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711200" y="1447800"/>
            <a:ext cx="5334000" cy="1630045"/>
          </a:xfrm>
          <a:prstGeom prst="rect">
            <a:avLst/>
          </a:prstGeom>
          <a:noFill/>
        </p:spPr>
        <p:txBody>
          <a:bodyPr vert="horz" wrap="square" rtlCol="0" anchor="t">
            <a:spAutoFit/>
          </a:bodyPr>
          <a:lstStyle/>
          <a:p>
            <a:pPr marL="457200" indent="-457200">
              <a:spcAft>
                <a:spcPts val="800"/>
              </a:spcAft>
              <a:buFont typeface="+mj-lt"/>
              <a:buChar char="•"/>
            </a:pPr>
            <a:r>
              <a:rPr lang="zh-CN" altLang="en-US" sz="2000">
                <a:solidFill>
                  <a:srgbClr val="514137"/>
                </a:solidFill>
                <a:latin typeface="微软雅黑" panose="020B0503020204020204" pitchFamily="34" charset="-122"/>
              </a:rPr>
              <a:t>样例数量多时难以比较和观察</a:t>
            </a:r>
            <a:r>
              <a:rPr lang="zh-CN" altLang="en-US" sz="2000">
                <a:solidFill>
                  <a:srgbClr val="514137"/>
                </a:solidFill>
                <a:latin typeface="微软雅黑" panose="020B0503020204020204" pitchFamily="34" charset="-122"/>
              </a:rPr>
              <a:t>全貌</a:t>
            </a:r>
            <a:endParaRPr lang="zh-CN" altLang="en-US" sz="2000">
              <a:solidFill>
                <a:srgbClr val="514137"/>
              </a:solidFill>
              <a:latin typeface="微软雅黑" panose="020B0503020204020204" pitchFamily="34" charset="-122"/>
            </a:endParaRPr>
          </a:p>
          <a:p>
            <a:pPr marL="457200" indent="-457200">
              <a:spcAft>
                <a:spcPts val="800"/>
              </a:spcAft>
              <a:buFont typeface="+mj-lt"/>
              <a:buChar char="•"/>
            </a:pPr>
            <a:r>
              <a:rPr lang="zh-CN" altLang="en-US" sz="2000">
                <a:solidFill>
                  <a:srgbClr val="514137"/>
                </a:solidFill>
                <a:latin typeface="微软雅黑" panose="020B0503020204020204" pitchFamily="34" charset="-122"/>
              </a:rPr>
              <a:t>图例映射路径偏长，难以找到准确</a:t>
            </a:r>
            <a:r>
              <a:rPr lang="zh-CN" altLang="en-US" sz="2000">
                <a:solidFill>
                  <a:srgbClr val="514137"/>
                </a:solidFill>
                <a:latin typeface="微软雅黑" panose="020B0503020204020204" pitchFamily="34" charset="-122"/>
              </a:rPr>
              <a:t>点</a:t>
            </a:r>
            <a:endParaRPr lang="zh-CN" altLang="en-US" sz="2000">
              <a:solidFill>
                <a:srgbClr val="514137"/>
              </a:solidFill>
              <a:latin typeface="微软雅黑" panose="020B0503020204020204" pitchFamily="34" charset="-122"/>
            </a:endParaRPr>
          </a:p>
          <a:p>
            <a:pPr marL="457200" indent="-457200">
              <a:spcAft>
                <a:spcPts val="800"/>
              </a:spcAft>
              <a:buFont typeface="+mj-lt"/>
              <a:buChar char="•"/>
            </a:pPr>
            <a:r>
              <a:rPr lang="zh-CN" altLang="en-US" sz="2000">
                <a:solidFill>
                  <a:srgbClr val="514137"/>
                </a:solidFill>
                <a:latin typeface="微软雅黑" panose="020B0503020204020204" pitchFamily="34" charset="-122"/>
              </a:rPr>
              <a:t>注意力切换频繁</a:t>
            </a:r>
            <a:endParaRPr lang="zh-CN" altLang="en-US" sz="2000">
              <a:solidFill>
                <a:srgbClr val="514137"/>
              </a:solidFill>
              <a:latin typeface="微软雅黑" panose="020B0503020204020204" pitchFamily="34" charset="-122"/>
            </a:endParaRPr>
          </a:p>
          <a:p>
            <a:pPr marL="457200" indent="-457200">
              <a:spcAft>
                <a:spcPts val="800"/>
              </a:spcAft>
              <a:buFont typeface="+mj-lt"/>
              <a:buChar char="•"/>
            </a:pPr>
            <a:r>
              <a:rPr lang="zh-CN" altLang="en-US" sz="2000">
                <a:solidFill>
                  <a:srgbClr val="514137"/>
                </a:solidFill>
                <a:latin typeface="微软雅黑" panose="020B0503020204020204" pitchFamily="34" charset="-122"/>
              </a:rPr>
              <a:t>颜色杂乱相间，令人</a:t>
            </a:r>
            <a:r>
              <a:rPr lang="zh-CN" altLang="en-US" sz="2000">
                <a:solidFill>
                  <a:srgbClr val="514137"/>
                </a:solidFill>
                <a:latin typeface="微软雅黑" panose="020B0503020204020204" pitchFamily="34" charset="-122"/>
              </a:rPr>
              <a:t>眼花</a:t>
            </a:r>
            <a:endParaRPr lang="zh-CN" altLang="en-US" sz="2000">
              <a:solidFill>
                <a:srgbClr val="514137"/>
              </a:solidFill>
              <a:latin typeface="微软雅黑" panose="020B0503020204020204" pitchFamily="34" charset="-122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10668000" y="6273800"/>
            <a:ext cx="1092200" cy="304800"/>
          </a:xfrm>
          <a:prstGeom prst="rect">
            <a:avLst/>
          </a:prstGeom>
          <a:solidFill>
            <a:srgbClr val="FFF4EE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zh-CN" sz="1100" b="1">
                <a:solidFill>
                  <a:srgbClr val="A86742"/>
                </a:solidFill>
                <a:latin typeface="微软雅黑" panose="020B0503020204020204" pitchFamily="34" charset="-122"/>
              </a:rPr>
              <a:t>6 / 12</a:t>
            </a:r>
            <a:endParaRPr lang="zh-CN" altLang="en-US" sz="1100" b="1">
              <a:solidFill>
                <a:srgbClr val="A86742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06415" y="1494155"/>
            <a:ext cx="5981065" cy="34442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/>
          <p:cNvSpPr/>
          <p:nvPr/>
        </p:nvSpPr>
        <p:spPr>
          <a:xfrm>
            <a:off x="0" y="0"/>
            <a:ext cx="12192000" cy="990600"/>
          </a:xfrm>
          <a:prstGeom prst="rect">
            <a:avLst/>
          </a:prstGeom>
          <a:solidFill>
            <a:srgbClr val="FBF7F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/>
          <p:cNvSpPr txBox="1"/>
          <p:nvPr/>
        </p:nvSpPr>
        <p:spPr>
          <a:xfrm>
            <a:off x="533400" y="228600"/>
            <a:ext cx="8255000" cy="523220"/>
          </a:xfrm>
          <a:prstGeom prst="rect">
            <a:avLst/>
          </a:prstGeom>
          <a:noFill/>
        </p:spPr>
        <p:txBody>
          <a:bodyPr vert="horz" wrap="square" rtlCol="0" anchor="t">
            <a:spAutoFit/>
          </a:bodyPr>
          <a:lstStyle/>
          <a:p>
            <a:r>
              <a:rPr lang="en-US" altLang="zh-CN" sz="2800" b="1">
                <a:solidFill>
                  <a:srgbClr val="563B18"/>
                </a:solidFill>
                <a:latin typeface="微软雅黑" panose="020B0503020204020204" pitchFamily="34" charset="-122"/>
              </a:rPr>
              <a:t>6. </a:t>
            </a:r>
            <a:r>
              <a:rPr lang="zh-CN" altLang="en-US" sz="2800" b="1">
                <a:solidFill>
                  <a:srgbClr val="563B18"/>
                </a:solidFill>
                <a:latin typeface="微软雅黑" panose="020B0503020204020204" pitchFamily="34" charset="-122"/>
              </a:rPr>
              <a:t>改进图总览：读图路径优化</a:t>
            </a:r>
            <a:endParaRPr lang="zh-CN" altLang="en-US" sz="2800" b="1">
              <a:solidFill>
                <a:srgbClr val="563B18"/>
              </a:solidFill>
              <a:latin typeface="微软雅黑" panose="020B0503020204020204" pitchFamily="34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8826500" y="304800"/>
            <a:ext cx="2921000" cy="276999"/>
          </a:xfrm>
          <a:prstGeom prst="rect">
            <a:avLst/>
          </a:prstGeom>
          <a:noFill/>
        </p:spPr>
        <p:txBody>
          <a:bodyPr vert="horz" wrap="square" rtlCol="0" anchor="t">
            <a:spAutoFit/>
          </a:bodyPr>
          <a:lstStyle/>
          <a:p>
            <a:pPr algn="r"/>
            <a:r>
              <a:rPr lang="en-US" altLang="zh-CN" sz="1200">
                <a:solidFill>
                  <a:srgbClr val="857066"/>
                </a:solidFill>
                <a:latin typeface="微软雅黑" panose="020B0503020204020204" pitchFamily="34" charset="-122"/>
              </a:rPr>
              <a:t>12-page optimized</a:t>
            </a:r>
            <a:endParaRPr lang="zh-CN" altLang="en-US" sz="1200">
              <a:solidFill>
                <a:srgbClr val="857066"/>
              </a:solidFill>
              <a:latin typeface="微软雅黑" panose="020B0503020204020204" pitchFamily="34" charset="-122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7950200" y="1524000"/>
            <a:ext cx="3632200" cy="1886585"/>
          </a:xfrm>
          <a:prstGeom prst="rect">
            <a:avLst/>
          </a:prstGeom>
          <a:noFill/>
        </p:spPr>
        <p:txBody>
          <a:bodyPr vert="horz" wrap="square" rtlCol="0" anchor="t">
            <a:spAutoFit/>
          </a:bodyPr>
          <a:lstStyle/>
          <a:p>
            <a:pPr marL="342900" indent="-342900">
              <a:spcAft>
                <a:spcPts val="800"/>
              </a:spcAft>
              <a:buFont typeface="+mj-lt"/>
              <a:buChar char="•"/>
            </a:pPr>
            <a:r>
              <a:rPr lang="zh-CN" altLang="en-US">
                <a:solidFill>
                  <a:srgbClr val="514137"/>
                </a:solidFill>
                <a:latin typeface="微软雅黑" panose="020B0503020204020204" pitchFamily="34" charset="-122"/>
              </a:rPr>
              <a:t>分区更明确</a:t>
            </a:r>
            <a:endParaRPr lang="zh-CN" altLang="en-US">
              <a:solidFill>
                <a:srgbClr val="514137"/>
              </a:solidFill>
              <a:latin typeface="微软雅黑" panose="020B0503020204020204" pitchFamily="34" charset="-122"/>
            </a:endParaRPr>
          </a:p>
          <a:p>
            <a:pPr marL="342900" indent="-342900">
              <a:spcAft>
                <a:spcPts val="800"/>
              </a:spcAft>
              <a:buFont typeface="+mj-lt"/>
              <a:buChar char="•"/>
            </a:pPr>
            <a:r>
              <a:rPr lang="zh-CN" altLang="en-US">
                <a:solidFill>
                  <a:srgbClr val="514137"/>
                </a:solidFill>
                <a:latin typeface="微软雅黑" panose="020B0503020204020204" pitchFamily="34" charset="-122"/>
              </a:rPr>
              <a:t>图例与主图区协同</a:t>
            </a:r>
            <a:endParaRPr lang="zh-CN" altLang="en-US">
              <a:solidFill>
                <a:srgbClr val="514137"/>
              </a:solidFill>
              <a:latin typeface="微软雅黑" panose="020B0503020204020204" pitchFamily="34" charset="-122"/>
            </a:endParaRPr>
          </a:p>
          <a:p>
            <a:pPr marL="342900" indent="-342900">
              <a:spcAft>
                <a:spcPts val="800"/>
              </a:spcAft>
              <a:buFont typeface="+mj-lt"/>
              <a:buChar char="•"/>
            </a:pPr>
            <a:r>
              <a:rPr lang="zh-CN" altLang="en-US">
                <a:solidFill>
                  <a:srgbClr val="514137"/>
                </a:solidFill>
                <a:latin typeface="微软雅黑" panose="020B0503020204020204" pitchFamily="34" charset="-122"/>
              </a:rPr>
              <a:t>高对比增强可读性</a:t>
            </a:r>
            <a:endParaRPr lang="zh-CN" altLang="en-US">
              <a:solidFill>
                <a:srgbClr val="514137"/>
              </a:solidFill>
              <a:latin typeface="微软雅黑" panose="020B0503020204020204" pitchFamily="34" charset="-122"/>
            </a:endParaRPr>
          </a:p>
          <a:p>
            <a:pPr marL="342900" indent="-342900">
              <a:spcAft>
                <a:spcPts val="800"/>
              </a:spcAft>
              <a:buFont typeface="+mj-lt"/>
              <a:buChar char="•"/>
            </a:pPr>
            <a:r>
              <a:rPr lang="zh-CN" altLang="en-US">
                <a:solidFill>
                  <a:srgbClr val="514137"/>
                </a:solidFill>
                <a:latin typeface="微软雅黑" panose="020B0503020204020204" pitchFamily="34" charset="-122"/>
              </a:rPr>
              <a:t>读图路径更稳定</a:t>
            </a:r>
            <a:endParaRPr lang="zh-CN" altLang="en-US">
              <a:solidFill>
                <a:srgbClr val="514137"/>
              </a:solidFill>
              <a:latin typeface="微软雅黑" panose="020B0503020204020204" pitchFamily="34" charset="-122"/>
            </a:endParaRPr>
          </a:p>
          <a:p>
            <a:pPr marL="342900" indent="-342900">
              <a:spcAft>
                <a:spcPts val="800"/>
              </a:spcAft>
              <a:buFont typeface="+mj-lt"/>
              <a:buChar char="•"/>
            </a:pPr>
            <a:r>
              <a:rPr lang="zh-CN" altLang="en-US">
                <a:solidFill>
                  <a:srgbClr val="514137"/>
                </a:solidFill>
                <a:latin typeface="微软雅黑" panose="020B0503020204020204" pitchFamily="34" charset="-122"/>
              </a:rPr>
              <a:t>鼠标放置可以显示详细</a:t>
            </a:r>
            <a:r>
              <a:rPr lang="zh-CN" altLang="en-US">
                <a:solidFill>
                  <a:srgbClr val="514137"/>
                </a:solidFill>
                <a:latin typeface="微软雅黑" panose="020B0503020204020204" pitchFamily="34" charset="-122"/>
              </a:rPr>
              <a:t>信息</a:t>
            </a:r>
            <a:endParaRPr lang="zh-CN" altLang="en-US">
              <a:solidFill>
                <a:srgbClr val="514137"/>
              </a:solidFill>
              <a:latin typeface="微软雅黑" panose="020B0503020204020204" pitchFamily="34" charset="-122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10668000" y="6273800"/>
            <a:ext cx="1092200" cy="304800"/>
          </a:xfrm>
          <a:prstGeom prst="rect">
            <a:avLst/>
          </a:prstGeom>
          <a:solidFill>
            <a:srgbClr val="FFF4EE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zh-CN" sz="1100" b="1">
                <a:solidFill>
                  <a:srgbClr val="A86742"/>
                </a:solidFill>
                <a:latin typeface="微软雅黑" panose="020B0503020204020204" pitchFamily="34" charset="-122"/>
              </a:rPr>
              <a:t>7 / 12</a:t>
            </a:r>
            <a:endParaRPr lang="zh-CN" altLang="en-US" sz="1100" b="1">
              <a:solidFill>
                <a:srgbClr val="A86742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9565" y="1524000"/>
            <a:ext cx="7508875" cy="429069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/>
          <p:cNvSpPr/>
          <p:nvPr/>
        </p:nvSpPr>
        <p:spPr>
          <a:xfrm>
            <a:off x="0" y="0"/>
            <a:ext cx="12192000" cy="990600"/>
          </a:xfrm>
          <a:prstGeom prst="rect">
            <a:avLst/>
          </a:prstGeom>
          <a:solidFill>
            <a:srgbClr val="FBF7F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/>
          <p:cNvSpPr txBox="1"/>
          <p:nvPr/>
        </p:nvSpPr>
        <p:spPr>
          <a:xfrm>
            <a:off x="533400" y="228600"/>
            <a:ext cx="8255000" cy="523220"/>
          </a:xfrm>
          <a:prstGeom prst="rect">
            <a:avLst/>
          </a:prstGeom>
          <a:noFill/>
        </p:spPr>
        <p:txBody>
          <a:bodyPr vert="horz" wrap="square" rtlCol="0" anchor="t">
            <a:spAutoFit/>
          </a:bodyPr>
          <a:lstStyle/>
          <a:p>
            <a:r>
              <a:rPr lang="en-US" altLang="zh-CN" sz="2800" b="1">
                <a:solidFill>
                  <a:srgbClr val="563B18"/>
                </a:solidFill>
                <a:latin typeface="微软雅黑" panose="020B0503020204020204" pitchFamily="34" charset="-122"/>
              </a:rPr>
              <a:t>7. </a:t>
            </a:r>
            <a:r>
              <a:rPr lang="zh-CN" altLang="en-US" sz="2800" b="1">
                <a:solidFill>
                  <a:srgbClr val="563B18"/>
                </a:solidFill>
                <a:latin typeface="微软雅黑" panose="020B0503020204020204" pitchFamily="34" charset="-122"/>
              </a:rPr>
              <a:t>分类视图：</a:t>
            </a:r>
            <a:r>
              <a:rPr lang="en-US" altLang="zh-CN" sz="2800" b="1">
                <a:solidFill>
                  <a:srgbClr val="563B18"/>
                </a:solidFill>
                <a:latin typeface="微软雅黑" panose="020B0503020204020204" pitchFamily="34" charset="-122"/>
              </a:rPr>
              <a:t>AAA</a:t>
            </a:r>
            <a:r>
              <a:rPr lang="zh-CN" altLang="en-US" sz="2800" b="1">
                <a:solidFill>
                  <a:srgbClr val="563B18"/>
                </a:solidFill>
                <a:latin typeface="微软雅黑" panose="020B0503020204020204" pitchFamily="34" charset="-122"/>
              </a:rPr>
              <a:t>大作</a:t>
            </a:r>
            <a:endParaRPr lang="zh-CN" altLang="en-US" sz="2800" b="1">
              <a:solidFill>
                <a:srgbClr val="563B18"/>
              </a:solidFill>
              <a:latin typeface="微软雅黑" panose="020B0503020204020204" pitchFamily="34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8826500" y="304800"/>
            <a:ext cx="2921000" cy="276999"/>
          </a:xfrm>
          <a:prstGeom prst="rect">
            <a:avLst/>
          </a:prstGeom>
          <a:noFill/>
        </p:spPr>
        <p:txBody>
          <a:bodyPr vert="horz" wrap="square" rtlCol="0" anchor="t">
            <a:spAutoFit/>
          </a:bodyPr>
          <a:lstStyle/>
          <a:p>
            <a:pPr algn="r"/>
            <a:r>
              <a:rPr lang="en-US" altLang="zh-CN" sz="1200">
                <a:solidFill>
                  <a:srgbClr val="857066"/>
                </a:solidFill>
                <a:latin typeface="微软雅黑" panose="020B0503020204020204" pitchFamily="34" charset="-122"/>
              </a:rPr>
              <a:t>12-page optimized</a:t>
            </a:r>
            <a:endParaRPr lang="zh-CN" altLang="en-US" sz="1200">
              <a:solidFill>
                <a:srgbClr val="857066"/>
              </a:solidFill>
              <a:latin typeface="微软雅黑" panose="020B0503020204020204" pitchFamily="34" charset="-122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7950200" y="1524000"/>
            <a:ext cx="3632200" cy="1508105"/>
          </a:xfrm>
          <a:prstGeom prst="rect">
            <a:avLst/>
          </a:prstGeom>
          <a:noFill/>
        </p:spPr>
        <p:txBody>
          <a:bodyPr vert="horz" wrap="square" rtlCol="0" anchor="t">
            <a:spAutoFit/>
          </a:bodyPr>
          <a:lstStyle/>
          <a:p>
            <a:pPr marL="342900" indent="-342900">
              <a:spcAft>
                <a:spcPts val="800"/>
              </a:spcAft>
              <a:buFont typeface="+mj-lt"/>
              <a:buChar char="•"/>
            </a:pPr>
            <a:r>
              <a:rPr lang="zh-CN" altLang="en-US">
                <a:solidFill>
                  <a:srgbClr val="514137"/>
                </a:solidFill>
                <a:latin typeface="微软雅黑" panose="020B0503020204020204" pitchFamily="34" charset="-122"/>
              </a:rPr>
              <a:t>单类别后密度下降</a:t>
            </a:r>
            <a:endParaRPr lang="zh-CN" altLang="en-US">
              <a:solidFill>
                <a:srgbClr val="514137"/>
              </a:solidFill>
              <a:latin typeface="微软雅黑" panose="020B0503020204020204" pitchFamily="34" charset="-122"/>
            </a:endParaRPr>
          </a:p>
          <a:p>
            <a:pPr marL="342900" indent="-342900">
              <a:spcAft>
                <a:spcPts val="800"/>
              </a:spcAft>
              <a:buFont typeface="+mj-lt"/>
              <a:buChar char="•"/>
            </a:pPr>
            <a:r>
              <a:rPr lang="zh-CN" altLang="en-US">
                <a:solidFill>
                  <a:srgbClr val="514137"/>
                </a:solidFill>
                <a:latin typeface="微软雅黑" panose="020B0503020204020204" pitchFamily="34" charset="-122"/>
              </a:rPr>
              <a:t>更易定位离群点</a:t>
            </a:r>
            <a:endParaRPr lang="zh-CN" altLang="en-US">
              <a:solidFill>
                <a:srgbClr val="514137"/>
              </a:solidFill>
              <a:latin typeface="微软雅黑" panose="020B0503020204020204" pitchFamily="34" charset="-122"/>
            </a:endParaRPr>
          </a:p>
          <a:p>
            <a:pPr marL="342900" indent="-342900">
              <a:spcAft>
                <a:spcPts val="800"/>
              </a:spcAft>
              <a:buFont typeface="+mj-lt"/>
              <a:buChar char="•"/>
            </a:pPr>
            <a:r>
              <a:rPr lang="zh-CN" altLang="en-US">
                <a:solidFill>
                  <a:srgbClr val="514137"/>
                </a:solidFill>
                <a:latin typeface="微软雅黑" panose="020B0503020204020204" pitchFamily="34" charset="-122"/>
              </a:rPr>
              <a:t>价格评分关系更清晰</a:t>
            </a:r>
            <a:endParaRPr lang="zh-CN" altLang="en-US">
              <a:solidFill>
                <a:srgbClr val="514137"/>
              </a:solidFill>
              <a:latin typeface="微软雅黑" panose="020B0503020204020204" pitchFamily="34" charset="-122"/>
            </a:endParaRPr>
          </a:p>
          <a:p>
            <a:pPr marL="342900" indent="-342900">
              <a:spcAft>
                <a:spcPts val="800"/>
              </a:spcAft>
              <a:buFont typeface="+mj-lt"/>
              <a:buChar char="•"/>
            </a:pPr>
            <a:r>
              <a:rPr lang="zh-CN" altLang="en-US">
                <a:solidFill>
                  <a:srgbClr val="514137"/>
                </a:solidFill>
                <a:latin typeface="微软雅黑" panose="020B0503020204020204" pitchFamily="34" charset="-122"/>
              </a:rPr>
              <a:t>有助于局部分析</a:t>
            </a:r>
            <a:endParaRPr lang="zh-CN" altLang="en-US">
              <a:solidFill>
                <a:srgbClr val="514137"/>
              </a:solidFill>
              <a:latin typeface="微软雅黑" panose="020B0503020204020204" pitchFamily="34" charset="-122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10668000" y="6273800"/>
            <a:ext cx="1092200" cy="304800"/>
          </a:xfrm>
          <a:prstGeom prst="rect">
            <a:avLst/>
          </a:prstGeom>
          <a:solidFill>
            <a:srgbClr val="FFF4EE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zh-CN" sz="1100" b="1">
                <a:solidFill>
                  <a:srgbClr val="A86742"/>
                </a:solidFill>
                <a:latin typeface="微软雅黑" panose="020B0503020204020204" pitchFamily="34" charset="-122"/>
              </a:rPr>
              <a:t>8 / 12</a:t>
            </a:r>
            <a:endParaRPr lang="zh-CN" altLang="en-US" sz="1100" b="1">
              <a:solidFill>
                <a:srgbClr val="A86742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4015" y="1524000"/>
            <a:ext cx="7416165" cy="422592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/>
          <p:cNvSpPr/>
          <p:nvPr/>
        </p:nvSpPr>
        <p:spPr>
          <a:xfrm>
            <a:off x="0" y="0"/>
            <a:ext cx="12192000" cy="990600"/>
          </a:xfrm>
          <a:prstGeom prst="rect">
            <a:avLst/>
          </a:prstGeom>
          <a:solidFill>
            <a:srgbClr val="FBF7F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/>
          <p:cNvSpPr txBox="1"/>
          <p:nvPr/>
        </p:nvSpPr>
        <p:spPr>
          <a:xfrm>
            <a:off x="533400" y="228600"/>
            <a:ext cx="8255000" cy="523220"/>
          </a:xfrm>
          <a:prstGeom prst="rect">
            <a:avLst/>
          </a:prstGeom>
          <a:noFill/>
        </p:spPr>
        <p:txBody>
          <a:bodyPr vert="horz" wrap="square" rtlCol="0" anchor="t">
            <a:spAutoFit/>
          </a:bodyPr>
          <a:lstStyle/>
          <a:p>
            <a:r>
              <a:rPr lang="en-US" altLang="zh-CN" sz="2800" b="1">
                <a:solidFill>
                  <a:srgbClr val="563B18"/>
                </a:solidFill>
                <a:latin typeface="微软雅黑" panose="020B0503020204020204" pitchFamily="34" charset="-122"/>
              </a:rPr>
              <a:t>8. </a:t>
            </a:r>
            <a:r>
              <a:rPr lang="zh-CN" altLang="en-US" sz="2800" b="1">
                <a:solidFill>
                  <a:srgbClr val="563B18"/>
                </a:solidFill>
                <a:latin typeface="微软雅黑" panose="020B0503020204020204" pitchFamily="34" charset="-122"/>
              </a:rPr>
              <a:t>分类视图：中型爆款</a:t>
            </a:r>
            <a:endParaRPr lang="zh-CN" altLang="en-US" sz="2800" b="1">
              <a:solidFill>
                <a:srgbClr val="563B18"/>
              </a:solidFill>
              <a:latin typeface="微软雅黑" panose="020B0503020204020204" pitchFamily="34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8826500" y="304800"/>
            <a:ext cx="2921000" cy="276999"/>
          </a:xfrm>
          <a:prstGeom prst="rect">
            <a:avLst/>
          </a:prstGeom>
          <a:noFill/>
        </p:spPr>
        <p:txBody>
          <a:bodyPr vert="horz" wrap="square" rtlCol="0" anchor="t">
            <a:spAutoFit/>
          </a:bodyPr>
          <a:lstStyle/>
          <a:p>
            <a:pPr algn="r"/>
            <a:r>
              <a:rPr lang="en-US" altLang="zh-CN" sz="1200">
                <a:solidFill>
                  <a:srgbClr val="857066"/>
                </a:solidFill>
                <a:latin typeface="微软雅黑" panose="020B0503020204020204" pitchFamily="34" charset="-122"/>
              </a:rPr>
              <a:t>12-page optimized</a:t>
            </a:r>
            <a:endParaRPr lang="zh-CN" altLang="en-US" sz="1200">
              <a:solidFill>
                <a:srgbClr val="857066"/>
              </a:solidFill>
              <a:latin typeface="微软雅黑" panose="020B0503020204020204" pitchFamily="34" charset="-122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7950200" y="1524000"/>
            <a:ext cx="3632200" cy="1508105"/>
          </a:xfrm>
          <a:prstGeom prst="rect">
            <a:avLst/>
          </a:prstGeom>
          <a:noFill/>
        </p:spPr>
        <p:txBody>
          <a:bodyPr vert="horz" wrap="square" rtlCol="0" anchor="t">
            <a:spAutoFit/>
          </a:bodyPr>
          <a:lstStyle/>
          <a:p>
            <a:pPr marL="342900" indent="-342900">
              <a:spcAft>
                <a:spcPts val="800"/>
              </a:spcAft>
              <a:buFont typeface="+mj-lt"/>
              <a:buChar char="•"/>
            </a:pPr>
            <a:r>
              <a:rPr lang="zh-CN" altLang="en-US">
                <a:solidFill>
                  <a:srgbClr val="514137"/>
                </a:solidFill>
                <a:latin typeface="微软雅黑" panose="020B0503020204020204" pitchFamily="34" charset="-122"/>
              </a:rPr>
              <a:t>观察中价位聚集区</a:t>
            </a:r>
            <a:endParaRPr lang="zh-CN" altLang="en-US">
              <a:solidFill>
                <a:srgbClr val="514137"/>
              </a:solidFill>
              <a:latin typeface="微软雅黑" panose="020B0503020204020204" pitchFamily="34" charset="-122"/>
            </a:endParaRPr>
          </a:p>
          <a:p>
            <a:pPr marL="342900" indent="-342900">
              <a:spcAft>
                <a:spcPts val="800"/>
              </a:spcAft>
              <a:buFont typeface="+mj-lt"/>
              <a:buChar char="•"/>
            </a:pPr>
            <a:r>
              <a:rPr lang="zh-CN" altLang="en-US">
                <a:solidFill>
                  <a:srgbClr val="514137"/>
                </a:solidFill>
                <a:latin typeface="微软雅黑" panose="020B0503020204020204" pitchFamily="34" charset="-122"/>
              </a:rPr>
              <a:t>比较同类内部差异</a:t>
            </a:r>
            <a:endParaRPr lang="zh-CN" altLang="en-US">
              <a:solidFill>
                <a:srgbClr val="514137"/>
              </a:solidFill>
              <a:latin typeface="微软雅黑" panose="020B0503020204020204" pitchFamily="34" charset="-122"/>
            </a:endParaRPr>
          </a:p>
          <a:p>
            <a:pPr marL="342900" indent="-342900">
              <a:spcAft>
                <a:spcPts val="800"/>
              </a:spcAft>
              <a:buFont typeface="+mj-lt"/>
              <a:buChar char="•"/>
            </a:pPr>
            <a:r>
              <a:rPr lang="zh-CN" altLang="en-US">
                <a:solidFill>
                  <a:srgbClr val="514137"/>
                </a:solidFill>
                <a:latin typeface="微软雅黑" panose="020B0503020204020204" pitchFamily="34" charset="-122"/>
              </a:rPr>
              <a:t>验证筛选价值</a:t>
            </a:r>
            <a:endParaRPr lang="zh-CN" altLang="en-US">
              <a:solidFill>
                <a:srgbClr val="514137"/>
              </a:solidFill>
              <a:latin typeface="微软雅黑" panose="020B0503020204020204" pitchFamily="34" charset="-122"/>
            </a:endParaRPr>
          </a:p>
          <a:p>
            <a:pPr marL="342900" indent="-342900">
              <a:spcAft>
                <a:spcPts val="800"/>
              </a:spcAft>
              <a:buFont typeface="+mj-lt"/>
              <a:buChar char="•"/>
            </a:pPr>
            <a:r>
              <a:rPr lang="zh-CN" altLang="en-US">
                <a:solidFill>
                  <a:srgbClr val="514137"/>
                </a:solidFill>
                <a:latin typeface="微软雅黑" panose="020B0503020204020204" pitchFamily="34" charset="-122"/>
              </a:rPr>
              <a:t>支持层次化阅读</a:t>
            </a:r>
            <a:endParaRPr lang="zh-CN" altLang="en-US">
              <a:solidFill>
                <a:srgbClr val="514137"/>
              </a:solidFill>
              <a:latin typeface="微软雅黑" panose="020B0503020204020204" pitchFamily="34" charset="-122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10668000" y="6273800"/>
            <a:ext cx="1092200" cy="304800"/>
          </a:xfrm>
          <a:prstGeom prst="rect">
            <a:avLst/>
          </a:prstGeom>
          <a:solidFill>
            <a:srgbClr val="FFF4EE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zh-CN" sz="1100" b="1">
                <a:solidFill>
                  <a:srgbClr val="A86742"/>
                </a:solidFill>
                <a:latin typeface="微软雅黑" panose="020B0503020204020204" pitchFamily="34" charset="-122"/>
              </a:rPr>
              <a:t>9 / 12</a:t>
            </a:r>
            <a:endParaRPr lang="zh-CN" altLang="en-US" sz="1100" b="1">
              <a:solidFill>
                <a:srgbClr val="A86742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9105" y="1524000"/>
            <a:ext cx="7287895" cy="414591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/>
          <p:cNvSpPr/>
          <p:nvPr/>
        </p:nvSpPr>
        <p:spPr>
          <a:xfrm>
            <a:off x="0" y="0"/>
            <a:ext cx="12192000" cy="990600"/>
          </a:xfrm>
          <a:prstGeom prst="rect">
            <a:avLst/>
          </a:prstGeom>
          <a:solidFill>
            <a:srgbClr val="FBF7F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/>
          <p:cNvSpPr txBox="1"/>
          <p:nvPr/>
        </p:nvSpPr>
        <p:spPr>
          <a:xfrm>
            <a:off x="533400" y="228600"/>
            <a:ext cx="8255000" cy="523220"/>
          </a:xfrm>
          <a:prstGeom prst="rect">
            <a:avLst/>
          </a:prstGeom>
          <a:noFill/>
        </p:spPr>
        <p:txBody>
          <a:bodyPr vert="horz" wrap="square" rtlCol="0" anchor="t">
            <a:spAutoFit/>
          </a:bodyPr>
          <a:lstStyle/>
          <a:p>
            <a:r>
              <a:rPr lang="en-US" altLang="zh-CN" sz="2800" b="1">
                <a:solidFill>
                  <a:srgbClr val="563B18"/>
                </a:solidFill>
                <a:latin typeface="微软雅黑" panose="020B0503020204020204" pitchFamily="34" charset="-122"/>
              </a:rPr>
              <a:t>9. </a:t>
            </a:r>
            <a:r>
              <a:rPr lang="zh-CN" altLang="en-US" sz="2800" b="1">
                <a:solidFill>
                  <a:srgbClr val="563B18"/>
                </a:solidFill>
                <a:latin typeface="微软雅黑" panose="020B0503020204020204" pitchFamily="34" charset="-122"/>
              </a:rPr>
              <a:t>其余分类快照</a:t>
            </a:r>
            <a:endParaRPr lang="zh-CN" altLang="en-US" sz="2800" b="1">
              <a:solidFill>
                <a:srgbClr val="563B18"/>
              </a:solidFill>
              <a:latin typeface="微软雅黑" panose="020B0503020204020204" pitchFamily="34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8826500" y="304800"/>
            <a:ext cx="2921000" cy="276999"/>
          </a:xfrm>
          <a:prstGeom prst="rect">
            <a:avLst/>
          </a:prstGeom>
          <a:noFill/>
        </p:spPr>
        <p:txBody>
          <a:bodyPr vert="horz" wrap="square" rtlCol="0" anchor="t">
            <a:spAutoFit/>
          </a:bodyPr>
          <a:lstStyle/>
          <a:p>
            <a:pPr algn="r"/>
            <a:r>
              <a:rPr lang="en-US" altLang="zh-CN" sz="1200">
                <a:solidFill>
                  <a:srgbClr val="857066"/>
                </a:solidFill>
                <a:latin typeface="微软雅黑" panose="020B0503020204020204" pitchFamily="34" charset="-122"/>
              </a:rPr>
              <a:t>12-page optimized</a:t>
            </a:r>
            <a:endParaRPr lang="zh-CN" altLang="en-US" sz="1200">
              <a:solidFill>
                <a:srgbClr val="857066"/>
              </a:solidFill>
              <a:latin typeface="微软雅黑" panose="020B0503020204020204" pitchFamily="34" charset="-122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10668000" y="6273800"/>
            <a:ext cx="1092200" cy="304800"/>
          </a:xfrm>
          <a:prstGeom prst="rect">
            <a:avLst/>
          </a:prstGeom>
          <a:solidFill>
            <a:srgbClr val="FFF4EE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zh-CN" sz="1100" b="1">
                <a:solidFill>
                  <a:srgbClr val="A86742"/>
                </a:solidFill>
                <a:latin typeface="微软雅黑" panose="020B0503020204020204" pitchFamily="34" charset="-122"/>
              </a:rPr>
              <a:t>10 / 12</a:t>
            </a:r>
            <a:endParaRPr lang="zh-CN" altLang="en-US" sz="1100" b="1">
              <a:solidFill>
                <a:srgbClr val="A86742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4640" y="751840"/>
            <a:ext cx="5253990" cy="2950210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5380" y="751840"/>
            <a:ext cx="5281930" cy="2978785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2635" y="3900805"/>
            <a:ext cx="5253990" cy="293052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/>
          <p:cNvSpPr/>
          <p:nvPr/>
        </p:nvSpPr>
        <p:spPr>
          <a:xfrm>
            <a:off x="0" y="0"/>
            <a:ext cx="12192000" cy="990600"/>
          </a:xfrm>
          <a:prstGeom prst="rect">
            <a:avLst/>
          </a:prstGeom>
          <a:solidFill>
            <a:srgbClr val="FBF7F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/>
          <p:cNvSpPr txBox="1"/>
          <p:nvPr/>
        </p:nvSpPr>
        <p:spPr>
          <a:xfrm>
            <a:off x="533400" y="228600"/>
            <a:ext cx="8255000" cy="523220"/>
          </a:xfrm>
          <a:prstGeom prst="rect">
            <a:avLst/>
          </a:prstGeom>
          <a:noFill/>
        </p:spPr>
        <p:txBody>
          <a:bodyPr vert="horz" wrap="square" rtlCol="0" anchor="t">
            <a:spAutoFit/>
          </a:bodyPr>
          <a:lstStyle/>
          <a:p>
            <a:r>
              <a:rPr lang="en-US" altLang="zh-CN" sz="2800" b="1">
                <a:solidFill>
                  <a:srgbClr val="563B18"/>
                </a:solidFill>
                <a:latin typeface="微软雅黑" panose="020B0503020204020204" pitchFamily="34" charset="-122"/>
              </a:rPr>
              <a:t>10. </a:t>
            </a:r>
            <a:r>
              <a:rPr lang="zh-CN" altLang="en-US" sz="2800" b="1">
                <a:solidFill>
                  <a:srgbClr val="563B18"/>
                </a:solidFill>
                <a:latin typeface="微软雅黑" panose="020B0503020204020204" pitchFamily="34" charset="-122"/>
              </a:rPr>
              <a:t>原图 </a:t>
            </a:r>
            <a:r>
              <a:rPr lang="en-US" altLang="zh-CN" sz="2800" b="1">
                <a:solidFill>
                  <a:srgbClr val="563B18"/>
                </a:solidFill>
                <a:latin typeface="微软雅黑" panose="020B0503020204020204" pitchFamily="34" charset="-122"/>
              </a:rPr>
              <a:t>vs </a:t>
            </a:r>
            <a:r>
              <a:rPr lang="zh-CN" altLang="en-US" sz="2800" b="1">
                <a:solidFill>
                  <a:srgbClr val="563B18"/>
                </a:solidFill>
                <a:latin typeface="微软雅黑" panose="020B0503020204020204" pitchFamily="34" charset="-122"/>
              </a:rPr>
              <a:t>改进图对比</a:t>
            </a:r>
            <a:endParaRPr lang="zh-CN" altLang="en-US" sz="2800" b="1">
              <a:solidFill>
                <a:srgbClr val="563B18"/>
              </a:solidFill>
              <a:latin typeface="微软雅黑" panose="020B0503020204020204" pitchFamily="34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8826500" y="304800"/>
            <a:ext cx="2921000" cy="276999"/>
          </a:xfrm>
          <a:prstGeom prst="rect">
            <a:avLst/>
          </a:prstGeom>
          <a:noFill/>
        </p:spPr>
        <p:txBody>
          <a:bodyPr vert="horz" wrap="square" rtlCol="0" anchor="t">
            <a:spAutoFit/>
          </a:bodyPr>
          <a:lstStyle/>
          <a:p>
            <a:pPr algn="r"/>
            <a:r>
              <a:rPr lang="en-US" altLang="zh-CN" sz="1200">
                <a:solidFill>
                  <a:srgbClr val="857066"/>
                </a:solidFill>
                <a:latin typeface="微软雅黑" panose="020B0503020204020204" pitchFamily="34" charset="-122"/>
              </a:rPr>
              <a:t>12-page optimized</a:t>
            </a:r>
            <a:endParaRPr lang="zh-CN" altLang="en-US" sz="1200">
              <a:solidFill>
                <a:srgbClr val="857066"/>
              </a:solidFill>
              <a:latin typeface="微软雅黑" panose="020B0503020204020204" pitchFamily="34" charset="-122"/>
            </a:endParaRPr>
          </a:p>
        </p:txBody>
      </p:sp>
      <p:graphicFrame>
        <p:nvGraphicFramePr>
          <p:cNvPr id="6" name="表格 5"/>
          <p:cNvGraphicFramePr>
            <a:graphicFrameLocks noGrp="1"/>
          </p:cNvGraphicFramePr>
          <p:nvPr/>
        </p:nvGraphicFramePr>
        <p:xfrm>
          <a:off x="711200" y="1498600"/>
          <a:ext cx="10769601" cy="3708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89867"/>
                <a:gridCol w="3589867"/>
                <a:gridCol w="3589867"/>
              </a:tblGrid>
              <a:tr h="741680">
                <a:tc>
                  <a:txBody>
                    <a:bodyPr/>
                    <a:lstStyle/>
                    <a:p>
                      <a:r>
                        <a:rPr lang="zh-CN" altLang="en-US" sz="1800" b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</a:rPr>
                        <a:t>对比维度</a:t>
                      </a:r>
                      <a:endParaRPr lang="zh-CN" altLang="en-US" sz="1800" b="1">
                        <a:solidFill>
                          <a:schemeClr val="tx1"/>
                        </a:solidFill>
                        <a:latin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2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800" b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</a:rPr>
                        <a:t>原图表现</a:t>
                      </a:r>
                      <a:endParaRPr lang="zh-CN" altLang="en-US" sz="1800" b="1">
                        <a:solidFill>
                          <a:schemeClr val="tx1"/>
                        </a:solidFill>
                        <a:latin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2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800" b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</a:rPr>
                        <a:t>改进表现</a:t>
                      </a:r>
                      <a:endParaRPr lang="zh-CN" altLang="en-US" sz="1800" b="1">
                        <a:solidFill>
                          <a:schemeClr val="tx1"/>
                        </a:solidFill>
                        <a:latin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2EA"/>
                    </a:solidFill>
                  </a:tcPr>
                </a:tc>
              </a:tr>
              <a:tr h="741680">
                <a:tc>
                  <a:txBody>
                    <a:bodyPr/>
                    <a:lstStyle/>
                    <a:p>
                      <a:r>
                        <a:rPr lang="zh-CN" altLang="en-US" sz="1600">
                          <a:latin typeface="微软雅黑" panose="020B0503020204020204" pitchFamily="34" charset="-122"/>
                        </a:rPr>
                        <a:t>视觉入口</a:t>
                      </a:r>
                      <a:endParaRPr lang="zh-CN" altLang="en-US" sz="1600">
                        <a:latin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C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>
                          <a:latin typeface="微软雅黑" panose="020B0503020204020204" pitchFamily="34" charset="-122"/>
                        </a:rPr>
                        <a:t>多元素竞争</a:t>
                      </a:r>
                      <a:endParaRPr lang="zh-CN" altLang="en-US" sz="1600">
                        <a:latin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>
                          <a:latin typeface="微软雅黑" panose="020B0503020204020204" pitchFamily="34" charset="-122"/>
                        </a:rPr>
                        <a:t>分区明确</a:t>
                      </a:r>
                      <a:endParaRPr lang="zh-CN" altLang="en-US" sz="1600">
                        <a:latin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41680">
                <a:tc>
                  <a:txBody>
                    <a:bodyPr/>
                    <a:lstStyle/>
                    <a:p>
                      <a:r>
                        <a:rPr lang="zh-CN" altLang="en-US" sz="1600">
                          <a:latin typeface="微软雅黑" panose="020B0503020204020204" pitchFamily="34" charset="-122"/>
                        </a:rPr>
                        <a:t>对比敏感度</a:t>
                      </a:r>
                      <a:endParaRPr lang="zh-CN" altLang="en-US" sz="1600">
                        <a:latin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C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>
                          <a:latin typeface="微软雅黑" panose="020B0503020204020204" pitchFamily="34" charset="-122"/>
                        </a:rPr>
                        <a:t>低对比区难读</a:t>
                      </a:r>
                      <a:endParaRPr lang="zh-CN" altLang="en-US" sz="1600">
                        <a:latin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>
                          <a:latin typeface="微软雅黑" panose="020B0503020204020204" pitchFamily="34" charset="-122"/>
                        </a:rPr>
                        <a:t>高对比易识别</a:t>
                      </a:r>
                      <a:endParaRPr lang="zh-CN" altLang="en-US" sz="1600">
                        <a:latin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41680">
                <a:tc>
                  <a:txBody>
                    <a:bodyPr/>
                    <a:lstStyle/>
                    <a:p>
                      <a:r>
                        <a:rPr lang="zh-CN" altLang="en-US" sz="1600">
                          <a:latin typeface="微软雅黑" panose="020B0503020204020204" pitchFamily="34" charset="-122"/>
                        </a:rPr>
                        <a:t>认知负担</a:t>
                      </a:r>
                      <a:endParaRPr lang="zh-CN" altLang="en-US" sz="1600">
                        <a:latin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C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>
                          <a:latin typeface="微软雅黑" panose="020B0503020204020204" pitchFamily="34" charset="-122"/>
                        </a:rPr>
                        <a:t>一次处理对象过多</a:t>
                      </a:r>
                      <a:endParaRPr lang="zh-CN" altLang="en-US" sz="1600">
                        <a:latin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>
                          <a:latin typeface="微软雅黑" panose="020B0503020204020204" pitchFamily="34" charset="-122"/>
                        </a:rPr>
                        <a:t>支持分层阅读</a:t>
                      </a:r>
                      <a:endParaRPr lang="zh-CN" altLang="en-US" sz="1600">
                        <a:latin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41680">
                <a:tc>
                  <a:txBody>
                    <a:bodyPr/>
                    <a:lstStyle/>
                    <a:p>
                      <a:r>
                        <a:rPr lang="zh-CN" altLang="en-US" sz="1600">
                          <a:latin typeface="微软雅黑" panose="020B0503020204020204" pitchFamily="34" charset="-122"/>
                        </a:rPr>
                        <a:t>信息效率</a:t>
                      </a:r>
                      <a:endParaRPr lang="zh-CN" altLang="en-US" sz="1600">
                        <a:latin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C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>
                          <a:latin typeface="微软雅黑" panose="020B0503020204020204" pitchFamily="34" charset="-122"/>
                        </a:rPr>
                        <a:t>有信息但提取慢</a:t>
                      </a:r>
                      <a:endParaRPr lang="zh-CN" altLang="en-US" sz="1600">
                        <a:latin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>
                          <a:latin typeface="微软雅黑" panose="020B0503020204020204" pitchFamily="34" charset="-122"/>
                        </a:rPr>
                        <a:t>信息完整且提取更快</a:t>
                      </a:r>
                      <a:endParaRPr lang="zh-CN" altLang="en-US" sz="1600">
                        <a:latin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矩形 6"/>
          <p:cNvSpPr/>
          <p:nvPr/>
        </p:nvSpPr>
        <p:spPr>
          <a:xfrm>
            <a:off x="10668000" y="6273800"/>
            <a:ext cx="1092200" cy="304800"/>
          </a:xfrm>
          <a:prstGeom prst="rect">
            <a:avLst/>
          </a:prstGeom>
          <a:solidFill>
            <a:srgbClr val="FFF4EE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zh-CN" sz="1100" b="1">
                <a:solidFill>
                  <a:srgbClr val="A86742"/>
                </a:solidFill>
                <a:latin typeface="微软雅黑" panose="020B0503020204020204" pitchFamily="34" charset="-122"/>
              </a:rPr>
              <a:t>11 / 12</a:t>
            </a:r>
            <a:endParaRPr lang="zh-CN" altLang="en-US" sz="1100" b="1">
              <a:solidFill>
                <a:srgbClr val="A86742"/>
              </a:solidFill>
              <a:latin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/>
          <p:cNvSpPr/>
          <p:nvPr/>
        </p:nvSpPr>
        <p:spPr>
          <a:xfrm>
            <a:off x="0" y="0"/>
            <a:ext cx="12192000" cy="990600"/>
          </a:xfrm>
          <a:prstGeom prst="rect">
            <a:avLst/>
          </a:prstGeom>
          <a:solidFill>
            <a:srgbClr val="FBF7F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/>
          <p:cNvSpPr txBox="1"/>
          <p:nvPr/>
        </p:nvSpPr>
        <p:spPr>
          <a:xfrm>
            <a:off x="533400" y="228600"/>
            <a:ext cx="8255000" cy="521970"/>
          </a:xfrm>
          <a:prstGeom prst="rect">
            <a:avLst/>
          </a:prstGeom>
          <a:noFill/>
        </p:spPr>
        <p:txBody>
          <a:bodyPr vert="horz" wrap="square" rtlCol="0" anchor="t">
            <a:spAutoFit/>
          </a:bodyPr>
          <a:lstStyle/>
          <a:p>
            <a:r>
              <a:rPr lang="en-US" altLang="zh-CN" sz="2800" b="1">
                <a:solidFill>
                  <a:srgbClr val="563B18"/>
                </a:solidFill>
                <a:latin typeface="微软雅黑" panose="020B0503020204020204" pitchFamily="34" charset="-122"/>
              </a:rPr>
              <a:t>11. </a:t>
            </a:r>
            <a:r>
              <a:rPr lang="zh-CN" altLang="en-US" sz="2800" b="1">
                <a:solidFill>
                  <a:srgbClr val="563B18"/>
                </a:solidFill>
                <a:latin typeface="微软雅黑" panose="020B0503020204020204" pitchFamily="34" charset="-122"/>
              </a:rPr>
              <a:t>结论</a:t>
            </a:r>
            <a:endParaRPr lang="zh-CN" altLang="en-US" sz="2800" b="1">
              <a:solidFill>
                <a:srgbClr val="563B18"/>
              </a:solidFill>
              <a:latin typeface="微软雅黑" panose="020B0503020204020204" pitchFamily="34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8826500" y="304800"/>
            <a:ext cx="2921000" cy="276999"/>
          </a:xfrm>
          <a:prstGeom prst="rect">
            <a:avLst/>
          </a:prstGeom>
          <a:noFill/>
        </p:spPr>
        <p:txBody>
          <a:bodyPr vert="horz" wrap="square" rtlCol="0" anchor="t">
            <a:spAutoFit/>
          </a:bodyPr>
          <a:lstStyle/>
          <a:p>
            <a:pPr algn="r"/>
            <a:r>
              <a:rPr lang="en-US" altLang="zh-CN" sz="1200">
                <a:solidFill>
                  <a:srgbClr val="857066"/>
                </a:solidFill>
                <a:latin typeface="微软雅黑" panose="020B0503020204020204" pitchFamily="34" charset="-122"/>
              </a:rPr>
              <a:t>12-page optimized</a:t>
            </a:r>
            <a:endParaRPr lang="zh-CN" altLang="en-US" sz="1200">
              <a:solidFill>
                <a:srgbClr val="857066"/>
              </a:solidFill>
              <a:latin typeface="微软雅黑" panose="020B0503020204020204" pitchFamily="3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838200" y="1600200"/>
            <a:ext cx="7112000" cy="1313180"/>
          </a:xfrm>
          <a:prstGeom prst="rect">
            <a:avLst/>
          </a:prstGeom>
          <a:noFill/>
        </p:spPr>
        <p:txBody>
          <a:bodyPr vert="horz" wrap="square" rtlCol="0" anchor="t">
            <a:spAutoFit/>
          </a:bodyPr>
          <a:lstStyle/>
          <a:p>
            <a:pPr marL="457200" indent="-457200">
              <a:spcAft>
                <a:spcPts val="800"/>
              </a:spcAft>
              <a:buFont typeface="+mj-lt"/>
              <a:buChar char="•"/>
            </a:pPr>
            <a:r>
              <a:rPr lang="zh-CN" altLang="en-US" sz="2200">
                <a:solidFill>
                  <a:srgbClr val="514137"/>
                </a:solidFill>
                <a:latin typeface="微软雅黑" panose="020B0503020204020204" pitchFamily="34" charset="-122"/>
              </a:rPr>
              <a:t>可视化专业性在于传达效率，而非元素堆叠。</a:t>
            </a:r>
            <a:endParaRPr lang="zh-CN" altLang="en-US" sz="2200">
              <a:solidFill>
                <a:srgbClr val="514137"/>
              </a:solidFill>
              <a:latin typeface="微软雅黑" panose="020B0503020204020204" pitchFamily="34" charset="-122"/>
            </a:endParaRPr>
          </a:p>
          <a:p>
            <a:pPr marL="457200" indent="-457200">
              <a:spcAft>
                <a:spcPts val="800"/>
              </a:spcAft>
              <a:buFont typeface="+mj-lt"/>
              <a:buChar char="•"/>
            </a:pPr>
            <a:r>
              <a:rPr lang="zh-CN" altLang="en-US" sz="2200">
                <a:solidFill>
                  <a:srgbClr val="514137"/>
                </a:solidFill>
                <a:latin typeface="微软雅黑" panose="020B0503020204020204" pitchFamily="34" charset="-122"/>
              </a:rPr>
              <a:t>理论支撑：对比敏感度 </a:t>
            </a:r>
            <a:r>
              <a:rPr lang="en-US" altLang="zh-CN" sz="2200">
                <a:solidFill>
                  <a:srgbClr val="514137"/>
                </a:solidFill>
                <a:latin typeface="微软雅黑" panose="020B0503020204020204" pitchFamily="34" charset="-122"/>
              </a:rPr>
              <a:t>+ </a:t>
            </a:r>
            <a:r>
              <a:rPr lang="zh-CN" altLang="en-US" sz="2200">
                <a:solidFill>
                  <a:srgbClr val="514137"/>
                </a:solidFill>
                <a:latin typeface="微软雅黑" panose="020B0503020204020204" pitchFamily="34" charset="-122"/>
              </a:rPr>
              <a:t>视觉光学限制。</a:t>
            </a:r>
            <a:endParaRPr lang="zh-CN" altLang="en-US" sz="2200">
              <a:solidFill>
                <a:srgbClr val="514137"/>
              </a:solidFill>
              <a:latin typeface="微软雅黑" panose="020B0503020204020204" pitchFamily="34" charset="-122"/>
            </a:endParaRPr>
          </a:p>
          <a:p>
            <a:pPr marL="457200" indent="-457200">
              <a:spcAft>
                <a:spcPts val="800"/>
              </a:spcAft>
              <a:buFont typeface="+mj-lt"/>
              <a:buChar char="•"/>
            </a:pPr>
            <a:r>
              <a:rPr lang="zh-CN" altLang="en-US" sz="2200">
                <a:solidFill>
                  <a:srgbClr val="514137"/>
                </a:solidFill>
                <a:latin typeface="微软雅黑" panose="020B0503020204020204" pitchFamily="34" charset="-122"/>
              </a:rPr>
              <a:t>改进图在读图效率和稳定性上更有优势。</a:t>
            </a:r>
            <a:endParaRPr lang="zh-CN" altLang="en-US" sz="2200">
              <a:solidFill>
                <a:srgbClr val="514137"/>
              </a:solidFill>
              <a:latin typeface="微软雅黑" panose="020B0503020204020204" pitchFamily="34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838200" y="4953000"/>
            <a:ext cx="4064000" cy="398780"/>
          </a:xfrm>
          <a:prstGeom prst="rect">
            <a:avLst/>
          </a:prstGeom>
          <a:noFill/>
        </p:spPr>
        <p:txBody>
          <a:bodyPr vert="horz" wrap="square" rtlCol="0" anchor="t">
            <a:spAutoFit/>
          </a:bodyPr>
          <a:lstStyle/>
          <a:p>
            <a:r>
              <a:rPr lang="zh-CN" altLang="en-US" sz="2000" b="1">
                <a:solidFill>
                  <a:srgbClr val="675447"/>
                </a:solidFill>
                <a:latin typeface="微软雅黑" panose="020B0503020204020204" pitchFamily="34" charset="-122"/>
              </a:rPr>
              <a:t>成员分工：</a:t>
            </a:r>
            <a:endParaRPr lang="zh-CN" altLang="en-US" sz="2000" b="1">
              <a:solidFill>
                <a:srgbClr val="675447"/>
              </a:solidFill>
              <a:latin typeface="微软雅黑" panose="020B0503020204020204" pitchFamily="34" charset="-122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10668000" y="6273800"/>
            <a:ext cx="1092200" cy="304800"/>
          </a:xfrm>
          <a:prstGeom prst="rect">
            <a:avLst/>
          </a:prstGeom>
          <a:solidFill>
            <a:srgbClr val="FFF4EE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zh-CN" sz="1100" b="1">
                <a:solidFill>
                  <a:srgbClr val="A86742"/>
                </a:solidFill>
                <a:latin typeface="微软雅黑" panose="020B0503020204020204" pitchFamily="34" charset="-122"/>
              </a:rPr>
              <a:t>12 / 12</a:t>
            </a:r>
            <a:endParaRPr lang="zh-CN" altLang="en-US" sz="1100" b="1">
              <a:solidFill>
                <a:srgbClr val="A86742"/>
              </a:solidFill>
              <a:latin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882</Words>
  <Application>WPS 演示</Application>
  <PresentationFormat>自定义</PresentationFormat>
  <Paragraphs>144</Paragraphs>
  <Slides>12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21" baseType="lpstr">
      <vt:lpstr>Arial</vt:lpstr>
      <vt:lpstr>宋体</vt:lpstr>
      <vt:lpstr>Wingdings</vt:lpstr>
      <vt:lpstr>微软雅黑</vt:lpstr>
      <vt:lpstr>等线</vt:lpstr>
      <vt:lpstr>Arial Unicode MS</vt:lpstr>
      <vt:lpstr>等线 Light</vt:lpstr>
      <vt:lpstr>Calibri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冰小幸 寒</dc:creator>
  <cp:lastModifiedBy>寒冰小幸</cp:lastModifiedBy>
  <cp:revision>9</cp:revision>
  <dcterms:created xsi:type="dcterms:W3CDTF">2026-04-05T02:38:00Z</dcterms:created>
  <dcterms:modified xsi:type="dcterms:W3CDTF">2026-04-09T03:10:46Z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2052-12.1.0.25225</vt:lpwstr>
  </property>
  <property fmtid="{D5CDD505-2E9C-101B-9397-08002B2CF9AE}" pid="3" name="ICV">
    <vt:lpwstr>C44CF5B450954D9882DD25D63D5A643D_13</vt:lpwstr>
  </property>
</Properties>
</file>